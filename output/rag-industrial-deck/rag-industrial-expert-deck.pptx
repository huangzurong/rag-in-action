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750" y="426750"/>
            <a:ext cx="193231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8190" y="426750"/>
            <a:ext cx="201474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工业 AI 技术内训</a:t>
            </a:r>
            <a:endParaRPr lang="en-US" sz="1584" dirty="0"/>
          </a:p>
        </p:txBody>
      </p:sp>
      <p:sp>
        <p:nvSpPr>
          <p:cNvPr id="6" name="Text 4"/>
          <p:cNvSpPr/>
          <p:nvPr/>
        </p:nvSpPr>
        <p:spPr>
          <a:xfrm>
            <a:off x="12038259" y="445770"/>
            <a:ext cx="245772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生产级 RAG 技术栈实战</a:t>
            </a:r>
            <a:endParaRPr lang="en-US" sz="1584" dirty="0"/>
          </a:p>
        </p:txBody>
      </p:sp>
      <p:sp>
        <p:nvSpPr>
          <p:cNvPr id="7" name="Shape 5"/>
          <p:cNvSpPr/>
          <p:nvPr/>
        </p:nvSpPr>
        <p:spPr>
          <a:xfrm>
            <a:off x="426750" y="998250"/>
            <a:ext cx="13776990" cy="6393210"/>
          </a:xfrm>
          <a:prstGeom prst="rect">
            <a:avLst/>
          </a:prstGeom>
          <a:solidFill>
            <a:srgbClr val="F3F2EE">
              <a:alpha val="22000"/>
            </a:srgbClr>
          </a:solidFill>
          <a:ln w="2857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10" y="1021110"/>
            <a:ext cx="8276783" cy="720849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20" y="1386870"/>
            <a:ext cx="204674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52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检索增强生成架构</a:t>
            </a:r>
            <a:endParaRPr lang="en-US" sz="1584" dirty="0"/>
          </a:p>
        </p:txBody>
      </p:sp>
      <p:sp>
        <p:nvSpPr>
          <p:cNvPr id="10" name="Text 8"/>
          <p:cNvSpPr/>
          <p:nvPr/>
        </p:nvSpPr>
        <p:spPr>
          <a:xfrm>
            <a:off x="845820" y="1636593"/>
            <a:ext cx="4422678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21"/>
              </a:lnSpc>
              <a:buNone/>
            </a:pPr>
            <a:r>
              <a:rPr lang="en-US" sz="6960" b="1" spc="-174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从纯向量检</a:t>
            </a:r>
            <a:endParaRPr lang="en-US" sz="6960" dirty="0"/>
          </a:p>
        </p:txBody>
      </p:sp>
      <p:sp>
        <p:nvSpPr>
          <p:cNvPr id="11" name="Text 9"/>
          <p:cNvSpPr/>
          <p:nvPr/>
        </p:nvSpPr>
        <p:spPr>
          <a:xfrm>
            <a:off x="845820" y="2502804"/>
            <a:ext cx="5288981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21"/>
              </a:lnSpc>
              <a:buNone/>
            </a:pPr>
            <a:r>
              <a:rPr lang="en-US" sz="6960" b="1" spc="-174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索到混合检索</a:t>
            </a:r>
            <a:endParaRPr lang="en-US" sz="6960" dirty="0"/>
          </a:p>
        </p:txBody>
      </p:sp>
      <p:sp>
        <p:nvSpPr>
          <p:cNvPr id="12" name="Text 10"/>
          <p:cNvSpPr/>
          <p:nvPr/>
        </p:nvSpPr>
        <p:spPr>
          <a:xfrm>
            <a:off x="845820" y="3369015"/>
            <a:ext cx="7021495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21"/>
              </a:lnSpc>
              <a:buNone/>
            </a:pPr>
            <a:r>
              <a:rPr lang="en-US" sz="6960" b="1" spc="-174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元数据过滤与二次</a:t>
            </a:r>
            <a:endParaRPr lang="en-US" sz="6960" dirty="0"/>
          </a:p>
        </p:txBody>
      </p:sp>
      <p:sp>
        <p:nvSpPr>
          <p:cNvPr id="13" name="Text 11"/>
          <p:cNvSpPr/>
          <p:nvPr/>
        </p:nvSpPr>
        <p:spPr>
          <a:xfrm>
            <a:off x="845820" y="4235135"/>
            <a:ext cx="1824045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21"/>
              </a:lnSpc>
              <a:buNone/>
            </a:pPr>
            <a:r>
              <a:rPr lang="en-US" sz="6960" b="1" spc="-174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</a:t>
            </a:r>
            <a:endParaRPr lang="en-US" sz="6960" dirty="0"/>
          </a:p>
        </p:txBody>
      </p:sp>
      <p:sp>
        <p:nvSpPr>
          <p:cNvPr id="14" name="Text 12"/>
          <p:cNvSpPr/>
          <p:nvPr/>
        </p:nvSpPr>
        <p:spPr>
          <a:xfrm>
            <a:off x="845820" y="5101346"/>
            <a:ext cx="6862877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21"/>
              </a:lnSpc>
              <a:buNone/>
            </a:pPr>
            <a:r>
              <a:rPr lang="en-US" sz="6960" b="1" spc="-174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RAG Triad 和</a:t>
            </a:r>
            <a:endParaRPr lang="en-US" sz="6960" dirty="0"/>
          </a:p>
        </p:txBody>
      </p:sp>
      <p:sp>
        <p:nvSpPr>
          <p:cNvPr id="15" name="Text 13"/>
          <p:cNvSpPr/>
          <p:nvPr/>
        </p:nvSpPr>
        <p:spPr>
          <a:xfrm>
            <a:off x="845820" y="5967557"/>
            <a:ext cx="7384390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21"/>
              </a:lnSpc>
              <a:buNone/>
            </a:pPr>
            <a:r>
              <a:rPr lang="en-US" sz="6960" b="1" spc="-174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门禁保证质</a:t>
            </a:r>
            <a:endParaRPr lang="en-US" sz="6960" dirty="0"/>
          </a:p>
        </p:txBody>
      </p:sp>
      <p:sp>
        <p:nvSpPr>
          <p:cNvPr id="16" name="Text 14"/>
          <p:cNvSpPr/>
          <p:nvPr/>
        </p:nvSpPr>
        <p:spPr>
          <a:xfrm>
            <a:off x="845820" y="6833677"/>
            <a:ext cx="958291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21"/>
              </a:lnSpc>
              <a:buNone/>
            </a:pPr>
            <a:r>
              <a:rPr lang="en-US" sz="6960" b="1" spc="-174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</a:t>
            </a:r>
            <a:endParaRPr lang="en-US" sz="6960" dirty="0"/>
          </a:p>
        </p:txBody>
      </p:sp>
      <p:sp>
        <p:nvSpPr>
          <p:cNvPr id="17" name="Text 15"/>
          <p:cNvSpPr/>
          <p:nvPr/>
        </p:nvSpPr>
        <p:spPr>
          <a:xfrm>
            <a:off x="845820" y="7762524"/>
            <a:ext cx="5267218" cy="240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以亚马逊德国站带电池退货为案例，讲清一套可上线的 RAG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845820" y="8059704"/>
            <a:ext cx="432786" cy="19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560" dirty="0"/>
          </a:p>
        </p:txBody>
      </p:sp>
      <p:sp>
        <p:nvSpPr>
          <p:cNvPr id="19" name="Shape 17"/>
          <p:cNvSpPr/>
          <p:nvPr/>
        </p:nvSpPr>
        <p:spPr>
          <a:xfrm>
            <a:off x="8749162" y="1021110"/>
            <a:ext cx="5431627" cy="720849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84473" y="1386870"/>
            <a:ext cx="102623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16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及格红线</a:t>
            </a:r>
            <a:endParaRPr lang="en-US" sz="1584" dirty="0"/>
          </a:p>
        </p:txBody>
      </p:sp>
      <p:sp>
        <p:nvSpPr>
          <p:cNvPr id="21" name="Text 19"/>
          <p:cNvSpPr/>
          <p:nvPr/>
        </p:nvSpPr>
        <p:spPr>
          <a:xfrm>
            <a:off x="9084473" y="4594128"/>
            <a:ext cx="3587923" cy="19248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92"/>
              </a:lnSpc>
              <a:buNone/>
            </a:pPr>
            <a:r>
              <a:rPr lang="en-US" sz="11088" b="1" spc="-200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1088" dirty="0"/>
          </a:p>
        </p:txBody>
      </p:sp>
      <p:sp>
        <p:nvSpPr>
          <p:cNvPr id="22" name="Text 20"/>
          <p:cNvSpPr/>
          <p:nvPr/>
        </p:nvSpPr>
        <p:spPr>
          <a:xfrm>
            <a:off x="9084473" y="5918820"/>
            <a:ext cx="2148840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3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26750" y="7528530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纯向量检索</a:t>
            </a:r>
            <a:endParaRPr lang="en-US" sz="1584" dirty="0"/>
          </a:p>
        </p:txBody>
      </p:sp>
      <p:sp>
        <p:nvSpPr>
          <p:cNvPr id="24" name="Text 22"/>
          <p:cNvSpPr/>
          <p:nvPr/>
        </p:nvSpPr>
        <p:spPr>
          <a:xfrm>
            <a:off x="1700784" y="7528530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元数据过滤</a:t>
            </a:r>
            <a:endParaRPr lang="en-US" sz="1584" dirty="0"/>
          </a:p>
        </p:txBody>
      </p:sp>
      <p:sp>
        <p:nvSpPr>
          <p:cNvPr id="25" name="Text 23"/>
          <p:cNvSpPr/>
          <p:nvPr/>
        </p:nvSpPr>
        <p:spPr>
          <a:xfrm>
            <a:off x="2974909" y="752853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混合检索</a:t>
            </a:r>
            <a:endParaRPr lang="en-US" sz="1584" dirty="0"/>
          </a:p>
        </p:txBody>
      </p:sp>
      <p:sp>
        <p:nvSpPr>
          <p:cNvPr id="26" name="Text 24"/>
          <p:cNvSpPr/>
          <p:nvPr/>
        </p:nvSpPr>
        <p:spPr>
          <a:xfrm>
            <a:off x="13428238" y="752853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评测门禁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76424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0789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 · 目录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111057" y="720090"/>
            <a:ext cx="29803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40分钟生产级 RAG 技术路线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03649"/>
            <a:ext cx="3097256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技术栈从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920216" y="1403649"/>
            <a:ext cx="2418314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检索到评测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975390" y="2173825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1920240" y="2138827"/>
            <a:ext cx="367726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的知识边界与 RAG 必要性</a:t>
            </a:r>
            <a:endParaRPr lang="en-US" sz="2040" dirty="0"/>
          </a:p>
        </p:txBody>
      </p:sp>
      <p:sp>
        <p:nvSpPr>
          <p:cNvPr id="13" name="Text 11"/>
          <p:cNvSpPr/>
          <p:nvPr/>
        </p:nvSpPr>
        <p:spPr>
          <a:xfrm>
            <a:off x="1920240" y="2467783"/>
            <a:ext cx="215340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动态知识不能只靠模型参数</a:t>
            </a:r>
            <a:endParaRPr lang="en-US" sz="1254" dirty="0"/>
          </a:p>
        </p:txBody>
      </p:sp>
      <p:sp>
        <p:nvSpPr>
          <p:cNvPr id="14" name="Shape 12"/>
          <p:cNvSpPr/>
          <p:nvPr/>
        </p:nvSpPr>
        <p:spPr>
          <a:xfrm>
            <a:off x="13487400" y="2397648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799436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799436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90" y="2961946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720" dirty="0"/>
          </a:p>
        </p:txBody>
      </p:sp>
      <p:sp>
        <p:nvSpPr>
          <p:cNvPr id="18" name="Text 16"/>
          <p:cNvSpPr/>
          <p:nvPr/>
        </p:nvSpPr>
        <p:spPr>
          <a:xfrm>
            <a:off x="1920240" y="2926948"/>
            <a:ext cx="380216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RAG：切块、向量化与召回</a:t>
            </a:r>
            <a:endParaRPr lang="en-US" sz="2040" dirty="0"/>
          </a:p>
        </p:txBody>
      </p:sp>
      <p:sp>
        <p:nvSpPr>
          <p:cNvPr id="19" name="Text 17"/>
          <p:cNvSpPr/>
          <p:nvPr/>
        </p:nvSpPr>
        <p:spPr>
          <a:xfrm>
            <a:off x="1920240" y="3255904"/>
            <a:ext cx="366259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+ VECTOR STORE + TOP-K</a:t>
            </a:r>
            <a:endParaRPr lang="en-US" sz="1254" dirty="0"/>
          </a:p>
        </p:txBody>
      </p:sp>
      <p:sp>
        <p:nvSpPr>
          <p:cNvPr id="20" name="Shape 18"/>
          <p:cNvSpPr/>
          <p:nvPr/>
        </p:nvSpPr>
        <p:spPr>
          <a:xfrm>
            <a:off x="13487400" y="3185861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587557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587557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390" y="3750067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720" dirty="0"/>
          </a:p>
        </p:txBody>
      </p:sp>
      <p:sp>
        <p:nvSpPr>
          <p:cNvPr id="24" name="Text 22"/>
          <p:cNvSpPr/>
          <p:nvPr/>
        </p:nvSpPr>
        <p:spPr>
          <a:xfrm>
            <a:off x="1920240" y="3715161"/>
            <a:ext cx="265642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纯向量检索的召回短板</a:t>
            </a:r>
            <a:endParaRPr lang="en-US" sz="2040" dirty="0"/>
          </a:p>
        </p:txBody>
      </p:sp>
      <p:sp>
        <p:nvSpPr>
          <p:cNvPr id="25" name="Text 23"/>
          <p:cNvSpPr/>
          <p:nvPr/>
        </p:nvSpPr>
        <p:spPr>
          <a:xfrm>
            <a:off x="1920240" y="4044117"/>
            <a:ext cx="215340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版本、站点与专有编码问题</a:t>
            </a:r>
            <a:endParaRPr lang="en-US" sz="1254" dirty="0"/>
          </a:p>
        </p:txBody>
      </p:sp>
      <p:sp>
        <p:nvSpPr>
          <p:cNvPr id="26" name="Shape 24"/>
          <p:cNvSpPr/>
          <p:nvPr/>
        </p:nvSpPr>
        <p:spPr>
          <a:xfrm>
            <a:off x="13487400" y="3974074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375770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375770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390" y="4538280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720" dirty="0"/>
          </a:p>
        </p:txBody>
      </p:sp>
      <p:sp>
        <p:nvSpPr>
          <p:cNvPr id="30" name="Text 28"/>
          <p:cNvSpPr/>
          <p:nvPr/>
        </p:nvSpPr>
        <p:spPr>
          <a:xfrm>
            <a:off x="1920240" y="4503283"/>
            <a:ext cx="3425891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检索增强：过滤、混合与重排</a:t>
            </a:r>
            <a:endParaRPr lang="en-US" sz="2040" dirty="0"/>
          </a:p>
        </p:txBody>
      </p:sp>
      <p:sp>
        <p:nvSpPr>
          <p:cNvPr id="31" name="Text 29"/>
          <p:cNvSpPr/>
          <p:nvPr/>
        </p:nvSpPr>
        <p:spPr>
          <a:xfrm>
            <a:off x="1920240" y="4832238"/>
            <a:ext cx="355599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+ HYBRID SEARCH + RERANK</a:t>
            </a:r>
            <a:endParaRPr lang="en-US" sz="1254" dirty="0"/>
          </a:p>
        </p:txBody>
      </p:sp>
      <p:sp>
        <p:nvSpPr>
          <p:cNvPr id="32" name="Shape 30"/>
          <p:cNvSpPr/>
          <p:nvPr/>
        </p:nvSpPr>
        <p:spPr>
          <a:xfrm>
            <a:off x="13487400" y="4762287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5163983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516398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5390" y="5326493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720" dirty="0"/>
          </a:p>
        </p:txBody>
      </p:sp>
      <p:sp>
        <p:nvSpPr>
          <p:cNvPr id="36" name="Text 34"/>
          <p:cNvSpPr/>
          <p:nvPr/>
        </p:nvSpPr>
        <p:spPr>
          <a:xfrm>
            <a:off x="1920240" y="5291495"/>
            <a:ext cx="230959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 RAG 技术选型</a:t>
            </a:r>
            <a:endParaRPr lang="en-US" sz="2040" dirty="0"/>
          </a:p>
        </p:txBody>
      </p:sp>
      <p:sp>
        <p:nvSpPr>
          <p:cNvPr id="37" name="Text 35"/>
          <p:cNvSpPr/>
          <p:nvPr/>
        </p:nvSpPr>
        <p:spPr>
          <a:xfrm>
            <a:off x="1920240" y="5620451"/>
            <a:ext cx="319683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GRAPHRAG、多模态、AGENTIC RAG</a:t>
            </a:r>
            <a:endParaRPr lang="en-US" sz="1254" dirty="0"/>
          </a:p>
        </p:txBody>
      </p:sp>
      <p:sp>
        <p:nvSpPr>
          <p:cNvPr id="38" name="Shape 36"/>
          <p:cNvSpPr/>
          <p:nvPr/>
        </p:nvSpPr>
        <p:spPr>
          <a:xfrm>
            <a:off x="13487400" y="5550499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5952195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5952195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5390" y="6114706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720" dirty="0"/>
          </a:p>
        </p:txBody>
      </p:sp>
      <p:sp>
        <p:nvSpPr>
          <p:cNvPr id="42" name="Text 40"/>
          <p:cNvSpPr/>
          <p:nvPr/>
        </p:nvSpPr>
        <p:spPr>
          <a:xfrm>
            <a:off x="1920240" y="6079708"/>
            <a:ext cx="439750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数据治理：版面解析、表格与 PII 脱敏</a:t>
            </a:r>
            <a:endParaRPr lang="en-US" sz="2040" dirty="0"/>
          </a:p>
        </p:txBody>
      </p:sp>
      <p:sp>
        <p:nvSpPr>
          <p:cNvPr id="43" name="Text 41"/>
          <p:cNvSpPr/>
          <p:nvPr/>
        </p:nvSpPr>
        <p:spPr>
          <a:xfrm>
            <a:off x="1920240" y="6408664"/>
            <a:ext cx="268445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MINERU + 表头注入 + 对话蒸馏</a:t>
            </a:r>
            <a:endParaRPr lang="en-US" sz="1254" dirty="0"/>
          </a:p>
        </p:txBody>
      </p:sp>
      <p:sp>
        <p:nvSpPr>
          <p:cNvPr id="44" name="Shape 42"/>
          <p:cNvSpPr/>
          <p:nvPr/>
        </p:nvSpPr>
        <p:spPr>
          <a:xfrm>
            <a:off x="13487400" y="6338621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6740408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6740408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5390" y="6902919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720" dirty="0"/>
          </a:p>
        </p:txBody>
      </p:sp>
      <p:sp>
        <p:nvSpPr>
          <p:cNvPr id="48" name="Text 46"/>
          <p:cNvSpPr/>
          <p:nvPr/>
        </p:nvSpPr>
        <p:spPr>
          <a:xfrm>
            <a:off x="1920240" y="6867921"/>
            <a:ext cx="340263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评测与 CI/CD 发布门禁</a:t>
            </a:r>
            <a:endParaRPr lang="en-US" sz="2040" dirty="0"/>
          </a:p>
        </p:txBody>
      </p:sp>
      <p:sp>
        <p:nvSpPr>
          <p:cNvPr id="49" name="Text 47"/>
          <p:cNvSpPr/>
          <p:nvPr/>
        </p:nvSpPr>
        <p:spPr>
          <a:xfrm>
            <a:off x="1920240" y="7196877"/>
            <a:ext cx="386781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TRIAD + GOLDEN DATASET + JUDGE</a:t>
            </a:r>
            <a:endParaRPr lang="en-US" sz="1254" dirty="0"/>
          </a:p>
        </p:txBody>
      </p:sp>
      <p:sp>
        <p:nvSpPr>
          <p:cNvPr id="50" name="Shape 48"/>
          <p:cNvSpPr/>
          <p:nvPr/>
        </p:nvSpPr>
        <p:spPr>
          <a:xfrm>
            <a:off x="13487400" y="7126834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0"/>
            <a:ext cx="2732410" cy="3124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" y="0"/>
            <a:ext cx="290477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第一步 · 为什么需要 RAG</a:t>
            </a:r>
            <a:endParaRPr lang="en-US" sz="1584" dirty="0"/>
          </a:p>
        </p:txBody>
      </p:sp>
      <p:sp>
        <p:nvSpPr>
          <p:cNvPr id="9" name="Text 5"/>
          <p:cNvSpPr/>
          <p:nvPr/>
        </p:nvSpPr>
        <p:spPr>
          <a:xfrm>
            <a:off x="11916369" y="19020"/>
            <a:ext cx="271403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F4F3EF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大模型不知道你公司内部的规定</a:t>
            </a:r>
            <a:endParaRPr lang="en-US" sz="1584" dirty="0"/>
          </a:p>
        </p:txBody>
      </p:sp>
      <p:sp>
        <p:nvSpPr>
          <p:cNvPr id="10" name="Text 6"/>
          <p:cNvSpPr/>
          <p:nvPr/>
        </p:nvSpPr>
        <p:spPr>
          <a:xfrm>
            <a:off x="914400" y="1724467"/>
            <a:ext cx="2816988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17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为什么不能重新训练一遍？</a:t>
            </a:r>
            <a:endParaRPr lang="en-US" sz="1716" dirty="0"/>
          </a:p>
        </p:txBody>
      </p:sp>
      <p:sp>
        <p:nvSpPr>
          <p:cNvPr id="11" name="Text 7"/>
          <p:cNvSpPr/>
          <p:nvPr/>
        </p:nvSpPr>
        <p:spPr>
          <a:xfrm>
            <a:off x="914400" y="2142073"/>
            <a:ext cx="9022751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41"/>
              </a:lnSpc>
              <a:buNone/>
            </a:pPr>
            <a:r>
              <a:rPr lang="en-US" sz="5520" b="1" spc="-138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政策天天在改，训完就过时了</a:t>
            </a:r>
            <a:endParaRPr lang="en-US" sz="5520" dirty="0"/>
          </a:p>
        </p:txBody>
      </p:sp>
      <p:sp>
        <p:nvSpPr>
          <p:cNvPr id="12" name="Text 8"/>
          <p:cNvSpPr/>
          <p:nvPr/>
        </p:nvSpPr>
        <p:spPr>
          <a:xfrm>
            <a:off x="914400" y="2871124"/>
            <a:ext cx="8335670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41"/>
              </a:lnSpc>
              <a:buNone/>
            </a:pPr>
            <a:r>
              <a:rPr lang="en-US" sz="5520" b="1" spc="-138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为什么不把资料全塞给它？</a:t>
            </a:r>
            <a:endParaRPr lang="en-US" sz="5520" dirty="0"/>
          </a:p>
        </p:txBody>
      </p:sp>
      <p:sp>
        <p:nvSpPr>
          <p:cNvPr id="13" name="Text 9"/>
          <p:cNvSpPr/>
          <p:nvPr/>
        </p:nvSpPr>
        <p:spPr>
          <a:xfrm>
            <a:off x="9158630" y="2871124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41"/>
              </a:lnSpc>
              <a:buNone/>
            </a:pPr>
            <a:r>
              <a:rPr lang="en-US" sz="5520" b="1" spc="-138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</a:t>
            </a:r>
            <a:endParaRPr lang="en-US" sz="5520" dirty="0"/>
          </a:p>
        </p:txBody>
      </p:sp>
      <p:sp>
        <p:nvSpPr>
          <p:cNvPr id="14" name="Text 10"/>
          <p:cNvSpPr/>
          <p:nvPr/>
        </p:nvSpPr>
        <p:spPr>
          <a:xfrm>
            <a:off x="914400" y="3600084"/>
            <a:ext cx="9022751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41"/>
              </a:lnSpc>
              <a:buNone/>
            </a:pPr>
            <a:r>
              <a:rPr lang="en-US" sz="5520" b="1" spc="-138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十万字塞不进去，塞进去也看</a:t>
            </a:r>
            <a:endParaRPr lang="en-US" sz="5520" dirty="0"/>
          </a:p>
        </p:txBody>
      </p:sp>
      <p:sp>
        <p:nvSpPr>
          <p:cNvPr id="15" name="Text 11"/>
          <p:cNvSpPr/>
          <p:nvPr/>
        </p:nvSpPr>
        <p:spPr>
          <a:xfrm>
            <a:off x="914400" y="4329135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41"/>
              </a:lnSpc>
              <a:buNone/>
            </a:pPr>
            <a:r>
              <a:rPr lang="en-US" sz="5520" b="1" spc="-138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</a:t>
            </a:r>
            <a:endParaRPr lang="en-US" sz="5520" dirty="0"/>
          </a:p>
        </p:txBody>
      </p:sp>
      <p:sp>
        <p:nvSpPr>
          <p:cNvPr id="16" name="Text 12"/>
          <p:cNvSpPr/>
          <p:nvPr/>
        </p:nvSpPr>
        <p:spPr>
          <a:xfrm>
            <a:off x="914400" y="5304937"/>
            <a:ext cx="6096396" cy="26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4F3EF">
                    <a:alpha val="7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就是给大模型配一个外挂搜索引擎：回答前先把最新的那几</a:t>
            </a:r>
            <a:endParaRPr lang="en-US" sz="1680" dirty="0"/>
          </a:p>
        </p:txBody>
      </p:sp>
      <p:sp>
        <p:nvSpPr>
          <p:cNvPr id="17" name="Text 13"/>
          <p:cNvSpPr/>
          <p:nvPr/>
        </p:nvSpPr>
        <p:spPr>
          <a:xfrm>
            <a:off x="914400" y="5624977"/>
            <a:ext cx="179835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4F3EF">
                    <a:alpha val="74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页找出来喂给它。</a:t>
            </a:r>
            <a:endParaRPr lang="en-US" sz="1680" dirty="0"/>
          </a:p>
        </p:txBody>
      </p:sp>
      <p:sp>
        <p:nvSpPr>
          <p:cNvPr id="18" name="Shape 14"/>
          <p:cNvSpPr/>
          <p:nvPr/>
        </p:nvSpPr>
        <p:spPr>
          <a:xfrm>
            <a:off x="914400" y="6271230"/>
            <a:ext cx="12801600" cy="1257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4F3E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4400" y="6271230"/>
            <a:ext cx="12801600" cy="11593"/>
          </a:xfrm>
          <a:prstGeom prst="rect">
            <a:avLst/>
          </a:prstGeom>
          <a:solidFill>
            <a:srgbClr val="F4F3EF">
              <a:alpha val="24000"/>
            </a:srgbClr>
          </a:solidFill>
          <a:ln w="12700">
            <a:solidFill>
              <a:srgbClr val="F4F3E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6446520"/>
            <a:ext cx="3609777" cy="10820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12584" y="6446520"/>
            <a:ext cx="11593" cy="1082010"/>
          </a:xfrm>
          <a:prstGeom prst="rect">
            <a:avLst/>
          </a:prstGeom>
          <a:solidFill>
            <a:srgbClr val="F4F3EF">
              <a:alpha val="24000"/>
            </a:srgbClr>
          </a:solidFill>
          <a:ln w="12700">
            <a:solidFill>
              <a:srgbClr val="F4F3E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14400" y="6532336"/>
            <a:ext cx="3109051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今天改规矩明天就过期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914400" y="6974266"/>
            <a:ext cx="402336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914400" y="7360920"/>
            <a:ext cx="63753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4F3EF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重新训练</a:t>
            </a:r>
            <a:endParaRPr lang="en-US" sz="990" dirty="0"/>
          </a:p>
        </p:txBody>
      </p:sp>
      <p:sp>
        <p:nvSpPr>
          <p:cNvPr id="25" name="Shape 21"/>
          <p:cNvSpPr/>
          <p:nvPr/>
        </p:nvSpPr>
        <p:spPr>
          <a:xfrm>
            <a:off x="4889937" y="6446520"/>
            <a:ext cx="3903939" cy="10820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782283" y="6446520"/>
            <a:ext cx="11593" cy="1082010"/>
          </a:xfrm>
          <a:prstGeom prst="rect">
            <a:avLst/>
          </a:prstGeom>
          <a:solidFill>
            <a:srgbClr val="F4F3EF">
              <a:alpha val="24000"/>
            </a:srgbClr>
          </a:solidFill>
          <a:ln w="12700">
            <a:solidFill>
              <a:srgbClr val="F4F3E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89937" y="6532336"/>
            <a:ext cx="3410803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几十万字塞不下还容易看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4889937" y="6974266"/>
            <a:ext cx="402336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4889937" y="7360920"/>
            <a:ext cx="77324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4F3EF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全塞上下文</a:t>
            </a:r>
            <a:endParaRPr lang="en-US" sz="990" dirty="0"/>
          </a:p>
        </p:txBody>
      </p:sp>
      <p:sp>
        <p:nvSpPr>
          <p:cNvPr id="30" name="Text 26"/>
          <p:cNvSpPr/>
          <p:nvPr/>
        </p:nvSpPr>
        <p:spPr>
          <a:xfrm>
            <a:off x="9159636" y="6532336"/>
            <a:ext cx="3712464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每次回答前先自动翻最新资</a:t>
            </a:r>
            <a:endParaRPr lang="en-US" sz="2400" dirty="0"/>
          </a:p>
        </p:txBody>
      </p:sp>
      <p:sp>
        <p:nvSpPr>
          <p:cNvPr id="31" name="Text 27"/>
          <p:cNvSpPr/>
          <p:nvPr/>
        </p:nvSpPr>
        <p:spPr>
          <a:xfrm>
            <a:off x="9159636" y="6974266"/>
            <a:ext cx="402336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F4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料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9159636" y="7360920"/>
            <a:ext cx="70777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F4F3EF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外挂</a:t>
            </a:r>
            <a:endParaRPr lang="en-US" sz="990" dirty="0"/>
          </a:p>
        </p:txBody>
      </p:sp>
      <p:sp>
        <p:nvSpPr>
          <p:cNvPr id="33" name="Text 29"/>
          <p:cNvSpPr/>
          <p:nvPr/>
        </p:nvSpPr>
        <p:spPr>
          <a:xfrm>
            <a:off x="11469045" y="950449"/>
            <a:ext cx="2246955" cy="2183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480"/>
              </a:lnSpc>
              <a:buNone/>
            </a:pPr>
            <a:r>
              <a:rPr lang="en-US" sz="15600" b="1" spc="-200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⅓</a:t>
            </a:r>
            <a:endParaRPr lang="en-US" sz="15600" dirty="0"/>
          </a:p>
        </p:txBody>
      </p:sp>
      <p:sp>
        <p:nvSpPr>
          <p:cNvPr id="34" name="Text 30"/>
          <p:cNvSpPr/>
          <p:nvPr/>
        </p:nvSpPr>
        <p:spPr>
          <a:xfrm>
            <a:off x="10076269" y="2834640"/>
            <a:ext cx="3639731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20" spc="90" kern="0" dirty="0">
                <a:solidFill>
                  <a:srgbClr val="F4F3EF">
                    <a:alpha val="7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模型负责组织语言，搜索系统负责找对资料。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527584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67164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第二步 · 最简单的 RAG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195822" y="720090"/>
            <a:ext cx="290834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先跑通一个最基本的检索流程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95089"/>
            <a:ext cx="7099676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切块 → 存向量 → 搜相似 → 拼回答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7922636" y="1495089"/>
            <a:ext cx="2418314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三步走流程</a:t>
            </a:r>
            <a:endParaRPr lang="en-US" sz="3720" dirty="0"/>
          </a:p>
        </p:txBody>
      </p:sp>
      <p:sp>
        <p:nvSpPr>
          <p:cNvPr id="11" name="Shape 9"/>
          <p:cNvSpPr/>
          <p:nvPr/>
        </p:nvSpPr>
        <p:spPr>
          <a:xfrm>
            <a:off x="3047878" y="3250509"/>
            <a:ext cx="8534278" cy="1527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820" y="3201040"/>
            <a:ext cx="114300" cy="11430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161513">
                <a:alpha val="7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58050" y="3201040"/>
            <a:ext cx="114300" cy="11430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161513">
                <a:alpha val="7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525280" y="3201040"/>
            <a:ext cx="114300" cy="11430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161513">
                <a:alpha val="7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19170" y="3585820"/>
            <a:ext cx="18227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把资料切碎存起来</a:t>
            </a:r>
            <a:endParaRPr lang="en-US" sz="1584" dirty="0"/>
          </a:p>
        </p:txBody>
      </p:sp>
      <p:sp>
        <p:nvSpPr>
          <p:cNvPr id="16" name="Text 14"/>
          <p:cNvSpPr/>
          <p:nvPr/>
        </p:nvSpPr>
        <p:spPr>
          <a:xfrm>
            <a:off x="1219170" y="3953043"/>
            <a:ext cx="1572768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9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219170" y="4600941"/>
            <a:ext cx="166161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切块 + 向量化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219170" y="5047305"/>
            <a:ext cx="2971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把几百页政策文档切成小段，用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1219170" y="5355915"/>
            <a:ext cx="365878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模型算成向量存进向量库。</a:t>
            </a:r>
            <a:endParaRPr lang="en-US" sz="1620" dirty="0"/>
          </a:p>
        </p:txBody>
      </p:sp>
      <p:sp>
        <p:nvSpPr>
          <p:cNvPr id="20" name="Shape 18"/>
          <p:cNvSpPr/>
          <p:nvPr/>
        </p:nvSpPr>
        <p:spPr>
          <a:xfrm>
            <a:off x="1219170" y="5889285"/>
            <a:ext cx="60990" cy="6099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8740" y="5794096"/>
            <a:ext cx="88384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离线准备</a:t>
            </a:r>
            <a:endParaRPr lang="en-US" sz="1452" dirty="0"/>
          </a:p>
        </p:txBody>
      </p:sp>
      <p:sp>
        <p:nvSpPr>
          <p:cNvPr id="22" name="Shape 20"/>
          <p:cNvSpPr/>
          <p:nvPr/>
        </p:nvSpPr>
        <p:spPr>
          <a:xfrm>
            <a:off x="5176510" y="3585820"/>
            <a:ext cx="4269791" cy="24597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6510" y="3585820"/>
            <a:ext cx="11593" cy="2459736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8869" y="3585820"/>
            <a:ext cx="22569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拿问题去搜最像的段落</a:t>
            </a:r>
            <a:endParaRPr lang="en-US" sz="1584" dirty="0"/>
          </a:p>
        </p:txBody>
      </p:sp>
      <p:sp>
        <p:nvSpPr>
          <p:cNvPr id="25" name="Text 23"/>
          <p:cNvSpPr/>
          <p:nvPr/>
        </p:nvSpPr>
        <p:spPr>
          <a:xfrm>
            <a:off x="5488869" y="3953043"/>
            <a:ext cx="1572768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9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488869" y="4600941"/>
            <a:ext cx="189591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向量相似度检索</a:t>
            </a:r>
            <a:endParaRPr lang="en-US" sz="2040" dirty="0"/>
          </a:p>
        </p:txBody>
      </p:sp>
      <p:sp>
        <p:nvSpPr>
          <p:cNvPr id="27" name="Text 25"/>
          <p:cNvSpPr/>
          <p:nvPr/>
        </p:nvSpPr>
        <p:spPr>
          <a:xfrm>
            <a:off x="5488869" y="5047305"/>
            <a:ext cx="35890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用户一提问，系统按余弦相似度找出最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5488869" y="5355915"/>
            <a:ext cx="202928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相关的 Top-K 段落。</a:t>
            </a:r>
            <a:endParaRPr lang="en-US" sz="1620" dirty="0"/>
          </a:p>
        </p:txBody>
      </p:sp>
      <p:sp>
        <p:nvSpPr>
          <p:cNvPr id="29" name="Shape 27"/>
          <p:cNvSpPr/>
          <p:nvPr/>
        </p:nvSpPr>
        <p:spPr>
          <a:xfrm>
            <a:off x="5488869" y="5889285"/>
            <a:ext cx="60990" cy="6099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8439" y="5794096"/>
            <a:ext cx="88384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在线检索</a:t>
            </a:r>
            <a:endParaRPr lang="en-US" sz="1452" dirty="0"/>
          </a:p>
        </p:txBody>
      </p:sp>
      <p:sp>
        <p:nvSpPr>
          <p:cNvPr id="31" name="Shape 29"/>
          <p:cNvSpPr/>
          <p:nvPr/>
        </p:nvSpPr>
        <p:spPr>
          <a:xfrm>
            <a:off x="9446301" y="3585820"/>
            <a:ext cx="4269699" cy="24597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46301" y="3585820"/>
            <a:ext cx="11593" cy="2459736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58751" y="3585820"/>
            <a:ext cx="22569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把搜到的段落喂给模型</a:t>
            </a:r>
            <a:endParaRPr lang="en-US" sz="1584" dirty="0"/>
          </a:p>
        </p:txBody>
      </p:sp>
      <p:sp>
        <p:nvSpPr>
          <p:cNvPr id="34" name="Text 32"/>
          <p:cNvSpPr/>
          <p:nvPr/>
        </p:nvSpPr>
        <p:spPr>
          <a:xfrm>
            <a:off x="9758751" y="3953043"/>
            <a:ext cx="1572768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9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9758751" y="4600941"/>
            <a:ext cx="2397404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 Prompt 生成回答</a:t>
            </a:r>
            <a:endParaRPr lang="en-US" sz="2040" dirty="0"/>
          </a:p>
        </p:txBody>
      </p:sp>
      <p:sp>
        <p:nvSpPr>
          <p:cNvPr id="36" name="Text 34"/>
          <p:cNvSpPr/>
          <p:nvPr/>
        </p:nvSpPr>
        <p:spPr>
          <a:xfrm>
            <a:off x="9758751" y="5047305"/>
            <a:ext cx="35890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把搜到的段落连同问题一起给大模型，</a:t>
            </a:r>
            <a:endParaRPr lang="en-US" sz="1620" dirty="0"/>
          </a:p>
        </p:txBody>
      </p:sp>
      <p:sp>
        <p:nvSpPr>
          <p:cNvPr id="37" name="Text 35"/>
          <p:cNvSpPr/>
          <p:nvPr/>
        </p:nvSpPr>
        <p:spPr>
          <a:xfrm>
            <a:off x="9758751" y="5355915"/>
            <a:ext cx="23545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让它照着参考资料回答。</a:t>
            </a:r>
            <a:endParaRPr lang="en-US" sz="1620" dirty="0"/>
          </a:p>
        </p:txBody>
      </p:sp>
      <p:sp>
        <p:nvSpPr>
          <p:cNvPr id="38" name="Shape 36"/>
          <p:cNvSpPr/>
          <p:nvPr/>
        </p:nvSpPr>
        <p:spPr>
          <a:xfrm>
            <a:off x="9758751" y="5889285"/>
            <a:ext cx="60990" cy="6099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8230" y="5794096"/>
            <a:ext cx="88384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生成回答</a:t>
            </a:r>
            <a:endParaRPr lang="en-US" sz="1452" dirty="0"/>
          </a:p>
        </p:txBody>
      </p:sp>
      <p:sp>
        <p:nvSpPr>
          <p:cNvPr id="40" name="Shape 38"/>
          <p:cNvSpPr/>
          <p:nvPr/>
        </p:nvSpPr>
        <p:spPr>
          <a:xfrm>
            <a:off x="914400" y="7109460"/>
            <a:ext cx="12801600" cy="4190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" y="710946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7254210"/>
            <a:ext cx="499710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先问一个简单的退货问题，纯向量检索就能正确回答</a:t>
            </a:r>
            <a:endParaRPr lang="en-US" sz="1584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7770" y="1143000"/>
            <a:ext cx="1295430" cy="1295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416211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52726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第三步 · 换个难题试试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032705" y="720090"/>
            <a:ext cx="412860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复杂业务一来，纯向量检索的短板就暴露了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614111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我们问一个真实的复合问题：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7116501" y="1600200"/>
            <a:ext cx="393192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德国买家要退一块坏了的智能手表（带锂电池）</a:t>
            </a:r>
            <a:endParaRPr lang="en-US" sz="14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10541"/>
            <a:ext cx="5638830" cy="41547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866187" y="2488905"/>
            <a:ext cx="1830812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搜出了作废的旧政策</a:t>
            </a:r>
            <a:endParaRPr lang="en-US" sz="1560" dirty="0"/>
          </a:p>
        </p:txBody>
      </p:sp>
      <p:sp>
        <p:nvSpPr>
          <p:cNvPr id="13" name="Text 10"/>
          <p:cNvSpPr/>
          <p:nvPr/>
        </p:nvSpPr>
        <p:spPr>
          <a:xfrm>
            <a:off x="2686964" y="2716591"/>
            <a:ext cx="233120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2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纯向量检索为什么搜错了？5根本原因</a:t>
            </a:r>
            <a:endParaRPr lang="en-US" sz="1122" dirty="0"/>
          </a:p>
        </p:txBody>
      </p:sp>
      <p:sp>
        <p:nvSpPr>
          <p:cNvPr id="14" name="Text 11"/>
          <p:cNvSpPr/>
          <p:nvPr/>
        </p:nvSpPr>
        <p:spPr>
          <a:xfrm>
            <a:off x="5529285" y="4284330"/>
            <a:ext cx="1925635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UN3481 完全没搜到</a:t>
            </a:r>
            <a:endParaRPr lang="en-US" sz="1560" dirty="0"/>
          </a:p>
        </p:txBody>
      </p:sp>
      <p:sp>
        <p:nvSpPr>
          <p:cNvPr id="15" name="Text 12"/>
          <p:cNvSpPr/>
          <p:nvPr/>
        </p:nvSpPr>
        <p:spPr>
          <a:xfrm>
            <a:off x="5529285" y="4512015"/>
            <a:ext cx="233120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2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纯向量检索为什么搜错了？5根本原因</a:t>
            </a:r>
            <a:endParaRPr lang="en-US" sz="1122" dirty="0"/>
          </a:p>
        </p:txBody>
      </p:sp>
      <p:sp>
        <p:nvSpPr>
          <p:cNvPr id="16" name="Text 13"/>
          <p:cNvSpPr/>
          <p:nvPr/>
        </p:nvSpPr>
        <p:spPr>
          <a:xfrm>
            <a:off x="2673431" y="6079846"/>
            <a:ext cx="2212208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把英国规矩给了德国客户</a:t>
            </a:r>
            <a:endParaRPr lang="en-US" sz="1560" dirty="0"/>
          </a:p>
        </p:txBody>
      </p:sp>
      <p:sp>
        <p:nvSpPr>
          <p:cNvPr id="17" name="Text 14"/>
          <p:cNvSpPr/>
          <p:nvPr/>
        </p:nvSpPr>
        <p:spPr>
          <a:xfrm>
            <a:off x="2686964" y="6307531"/>
            <a:ext cx="233120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2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纯向量检索为什么搜错了？4根本原因</a:t>
            </a:r>
            <a:endParaRPr lang="en-US" sz="1122" dirty="0"/>
          </a:p>
        </p:txBody>
      </p:sp>
      <p:sp>
        <p:nvSpPr>
          <p:cNvPr id="18" name="Text 15"/>
          <p:cNvSpPr/>
          <p:nvPr/>
        </p:nvSpPr>
        <p:spPr>
          <a:xfrm>
            <a:off x="203180" y="4284330"/>
            <a:ext cx="1830812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小毛病套上了大条款</a:t>
            </a:r>
            <a:endParaRPr lang="en-US" sz="1560" dirty="0"/>
          </a:p>
        </p:txBody>
      </p:sp>
      <p:sp>
        <p:nvSpPr>
          <p:cNvPr id="19" name="Text 16"/>
          <p:cNvSpPr/>
          <p:nvPr/>
        </p:nvSpPr>
        <p:spPr>
          <a:xfrm>
            <a:off x="0" y="4512015"/>
            <a:ext cx="2331209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2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纯向量检索为什么搜错了？4根本原因</a:t>
            </a:r>
            <a:endParaRPr lang="en-US" sz="1122" dirty="0"/>
          </a:p>
        </p:txBody>
      </p:sp>
      <p:sp>
        <p:nvSpPr>
          <p:cNvPr id="20" name="Shape 17"/>
          <p:cNvSpPr/>
          <p:nvPr/>
        </p:nvSpPr>
        <p:spPr>
          <a:xfrm>
            <a:off x="6827550" y="3066532"/>
            <a:ext cx="6888450" cy="284277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27550" y="3066532"/>
            <a:ext cx="11593" cy="2842778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09460" y="3066532"/>
            <a:ext cx="6606540" cy="7125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09460" y="3767531"/>
            <a:ext cx="660654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09460" y="3295132"/>
            <a:ext cx="91440" cy="91440"/>
          </a:xfrm>
          <a:prstGeom prst="rect">
            <a:avLst/>
          </a:prstGeom>
          <a:solidFill>
            <a:srgbClr val="B04A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92340" y="3218962"/>
            <a:ext cx="18059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搜出了作废的旧政策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098280" y="3272272"/>
            <a:ext cx="919989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旧规当新规用了</a:t>
            </a:r>
            <a:endParaRPr lang="en-US" sz="858" dirty="0"/>
          </a:p>
        </p:txBody>
      </p:sp>
      <p:sp>
        <p:nvSpPr>
          <p:cNvPr id="27" name="Shape 24"/>
          <p:cNvSpPr/>
          <p:nvPr/>
        </p:nvSpPr>
        <p:spPr>
          <a:xfrm>
            <a:off x="12486315" y="3325673"/>
            <a:ext cx="121890" cy="60990"/>
          </a:xfrm>
          <a:prstGeom prst="rect">
            <a:avLst/>
          </a:prstGeom>
          <a:solidFill>
            <a:srgbClr val="B04A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631064" y="3325673"/>
            <a:ext cx="121890" cy="60990"/>
          </a:xfrm>
          <a:prstGeom prst="rect">
            <a:avLst/>
          </a:prstGeom>
          <a:solidFill>
            <a:srgbClr val="B04A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775905" y="3325673"/>
            <a:ext cx="121890" cy="60990"/>
          </a:xfrm>
          <a:prstGeom prst="rect">
            <a:avLst/>
          </a:prstGeom>
          <a:solidFill>
            <a:srgbClr val="B04A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2920655" y="3325673"/>
            <a:ext cx="121890" cy="60990"/>
          </a:xfrm>
          <a:prstGeom prst="rect">
            <a:avLst/>
          </a:prstGeom>
          <a:solidFill>
            <a:srgbClr val="B04A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3065404" y="3325673"/>
            <a:ext cx="121890" cy="60990"/>
          </a:xfrm>
          <a:prstGeom prst="rect">
            <a:avLst/>
          </a:prstGeom>
          <a:solidFill>
            <a:srgbClr val="B04A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233105" y="3276112"/>
            <a:ext cx="60235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b="1" spc="63" kern="0" dirty="0">
                <a:solidFill>
                  <a:srgbClr val="B04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账号封禁</a:t>
            </a:r>
            <a:endParaRPr lang="en-US" sz="924" dirty="0"/>
          </a:p>
        </p:txBody>
      </p:sp>
      <p:sp>
        <p:nvSpPr>
          <p:cNvPr id="33" name="Text 30"/>
          <p:cNvSpPr/>
          <p:nvPr/>
        </p:nvSpPr>
        <p:spPr>
          <a:xfrm>
            <a:off x="7292340" y="3478012"/>
            <a:ext cx="6460236" cy="221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2"/>
              </a:lnSpc>
              <a:buNone/>
            </a:pPr>
            <a:r>
              <a:rPr lang="en-US" sz="111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旧政策里'退货'字眼多，相似度拿了 0.89 高分排第一。</a:t>
            </a:r>
            <a:endParaRPr lang="en-US" sz="1110" dirty="0"/>
          </a:p>
        </p:txBody>
      </p:sp>
      <p:sp>
        <p:nvSpPr>
          <p:cNvPr id="34" name="Shape 31"/>
          <p:cNvSpPr/>
          <p:nvPr/>
        </p:nvSpPr>
        <p:spPr>
          <a:xfrm>
            <a:off x="7109460" y="3779124"/>
            <a:ext cx="6606540" cy="7125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09460" y="4480123"/>
            <a:ext cx="660654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09460" y="4007724"/>
            <a:ext cx="91440" cy="91440"/>
          </a:xfrm>
          <a:prstGeom prst="rect">
            <a:avLst/>
          </a:prstGeom>
          <a:solidFill>
            <a:srgbClr val="B882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292340" y="3931554"/>
            <a:ext cx="185550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UN3481 完全没搜到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9147840" y="3984864"/>
            <a:ext cx="80238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专有编码漏了</a:t>
            </a:r>
            <a:endParaRPr lang="en-US" sz="858" dirty="0"/>
          </a:p>
        </p:txBody>
      </p:sp>
      <p:sp>
        <p:nvSpPr>
          <p:cNvPr id="39" name="Shape 36"/>
          <p:cNvSpPr/>
          <p:nvPr/>
        </p:nvSpPr>
        <p:spPr>
          <a:xfrm>
            <a:off x="12486315" y="4038265"/>
            <a:ext cx="121890" cy="60990"/>
          </a:xfrm>
          <a:prstGeom prst="rect">
            <a:avLst/>
          </a:prstGeom>
          <a:solidFill>
            <a:srgbClr val="B882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2631064" y="4038265"/>
            <a:ext cx="121890" cy="60990"/>
          </a:xfrm>
          <a:prstGeom prst="rect">
            <a:avLst/>
          </a:prstGeom>
          <a:solidFill>
            <a:srgbClr val="B882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2775905" y="4038265"/>
            <a:ext cx="121890" cy="60990"/>
          </a:xfrm>
          <a:prstGeom prst="rect">
            <a:avLst/>
          </a:prstGeom>
          <a:solidFill>
            <a:srgbClr val="B882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2920655" y="4038265"/>
            <a:ext cx="121890" cy="60990"/>
          </a:xfrm>
          <a:prstGeom prst="rect">
            <a:avLst/>
          </a:prstGeom>
          <a:solidFill>
            <a:srgbClr val="B882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3065404" y="4038265"/>
            <a:ext cx="121890" cy="60990"/>
          </a:xfrm>
          <a:prstGeom prst="rect">
            <a:avLst/>
          </a:prstGeom>
          <a:solidFill>
            <a:srgbClr val="B882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233105" y="3988704"/>
            <a:ext cx="60235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b="1" spc="63" kern="0" dirty="0">
                <a:solidFill>
                  <a:srgbClr val="B88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账号封禁</a:t>
            </a:r>
            <a:endParaRPr lang="en-US" sz="924" dirty="0"/>
          </a:p>
        </p:txBody>
      </p:sp>
      <p:sp>
        <p:nvSpPr>
          <p:cNvPr id="45" name="Text 42"/>
          <p:cNvSpPr/>
          <p:nvPr/>
        </p:nvSpPr>
        <p:spPr>
          <a:xfrm>
            <a:off x="7292340" y="4190604"/>
            <a:ext cx="6460236" cy="221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2"/>
              </a:lnSpc>
              <a:buNone/>
            </a:pPr>
            <a:r>
              <a:rPr lang="en-US" sz="111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纯向量检索对 SKU、型号这类专有编码不敏感，直接漏掉了锂电池运输规则。</a:t>
            </a:r>
            <a:endParaRPr lang="en-US" sz="1110" dirty="0"/>
          </a:p>
        </p:txBody>
      </p:sp>
      <p:sp>
        <p:nvSpPr>
          <p:cNvPr id="46" name="Shape 43"/>
          <p:cNvSpPr/>
          <p:nvPr/>
        </p:nvSpPr>
        <p:spPr>
          <a:xfrm>
            <a:off x="7109460" y="4491716"/>
            <a:ext cx="6606540" cy="7125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109460" y="5192715"/>
            <a:ext cx="660654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109460" y="4720316"/>
            <a:ext cx="91440" cy="91440"/>
          </a:xfrm>
          <a:prstGeom prst="rect">
            <a:avLst/>
          </a:prstGeom>
          <a:solidFill>
            <a:srgbClr val="6A4E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292340" y="4644146"/>
            <a:ext cx="218697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把英国规矩给了德国客户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9479310" y="4697456"/>
            <a:ext cx="684771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站点搞混了</a:t>
            </a:r>
            <a:endParaRPr lang="en-US" sz="858" dirty="0"/>
          </a:p>
        </p:txBody>
      </p:sp>
      <p:sp>
        <p:nvSpPr>
          <p:cNvPr id="51" name="Shape 48"/>
          <p:cNvSpPr/>
          <p:nvPr/>
        </p:nvSpPr>
        <p:spPr>
          <a:xfrm>
            <a:off x="12486315" y="4750857"/>
            <a:ext cx="121890" cy="60990"/>
          </a:xfrm>
          <a:prstGeom prst="rect">
            <a:avLst/>
          </a:prstGeom>
          <a:solidFill>
            <a:srgbClr val="6A4E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2631064" y="4750857"/>
            <a:ext cx="121890" cy="60990"/>
          </a:xfrm>
          <a:prstGeom prst="rect">
            <a:avLst/>
          </a:prstGeom>
          <a:solidFill>
            <a:srgbClr val="6A4E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2775905" y="4750857"/>
            <a:ext cx="121890" cy="60990"/>
          </a:xfrm>
          <a:prstGeom prst="rect">
            <a:avLst/>
          </a:prstGeom>
          <a:solidFill>
            <a:srgbClr val="6A4E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2920655" y="4750857"/>
            <a:ext cx="121890" cy="60990"/>
          </a:xfrm>
          <a:prstGeom prst="rect">
            <a:avLst/>
          </a:prstGeom>
          <a:solidFill>
            <a:srgbClr val="6A4E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3065404" y="4750857"/>
            <a:ext cx="121890" cy="60990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233105" y="4701296"/>
            <a:ext cx="60235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b="1" spc="63" kern="0" dirty="0">
                <a:solidFill>
                  <a:srgbClr val="6A4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海关扣货</a:t>
            </a:r>
            <a:endParaRPr lang="en-US" sz="924" dirty="0"/>
          </a:p>
        </p:txBody>
      </p:sp>
      <p:sp>
        <p:nvSpPr>
          <p:cNvPr id="57" name="Text 54"/>
          <p:cNvSpPr/>
          <p:nvPr/>
        </p:nvSpPr>
        <p:spPr>
          <a:xfrm>
            <a:off x="7292340" y="4903196"/>
            <a:ext cx="6460236" cy="221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2"/>
              </a:lnSpc>
              <a:buNone/>
            </a:pPr>
            <a:r>
              <a:rPr lang="en-US" sz="111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英国和德国的退货政策语义太像，系统分不清推错了。</a:t>
            </a:r>
            <a:endParaRPr lang="en-US" sz="1110" dirty="0"/>
          </a:p>
        </p:txBody>
      </p:sp>
      <p:sp>
        <p:nvSpPr>
          <p:cNvPr id="58" name="Shape 55"/>
          <p:cNvSpPr/>
          <p:nvPr/>
        </p:nvSpPr>
        <p:spPr>
          <a:xfrm>
            <a:off x="7109460" y="5432908"/>
            <a:ext cx="91440" cy="91440"/>
          </a:xfrm>
          <a:prstGeom prst="rect">
            <a:avLst/>
          </a:prstGeom>
          <a:solidFill>
            <a:srgbClr val="2A7D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292340" y="5356738"/>
            <a:ext cx="18059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小毛病套上了大条款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9098280" y="5410048"/>
            <a:ext cx="80238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特例被滥用了</a:t>
            </a:r>
            <a:endParaRPr lang="en-US" sz="858" dirty="0"/>
          </a:p>
        </p:txBody>
      </p:sp>
      <p:sp>
        <p:nvSpPr>
          <p:cNvPr id="61" name="Shape 58"/>
          <p:cNvSpPr/>
          <p:nvPr/>
        </p:nvSpPr>
        <p:spPr>
          <a:xfrm>
            <a:off x="12486315" y="5463449"/>
            <a:ext cx="121890" cy="60990"/>
          </a:xfrm>
          <a:prstGeom prst="rect">
            <a:avLst/>
          </a:prstGeom>
          <a:solidFill>
            <a:srgbClr val="2A7D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2631064" y="5463449"/>
            <a:ext cx="121890" cy="60990"/>
          </a:xfrm>
          <a:prstGeom prst="rect">
            <a:avLst/>
          </a:prstGeom>
          <a:solidFill>
            <a:srgbClr val="2A7D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2775905" y="5463449"/>
            <a:ext cx="121890" cy="60990"/>
          </a:xfrm>
          <a:prstGeom prst="rect">
            <a:avLst/>
          </a:prstGeom>
          <a:solidFill>
            <a:srgbClr val="2A7D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2920655" y="5463449"/>
            <a:ext cx="121890" cy="60990"/>
          </a:xfrm>
          <a:prstGeom prst="rect">
            <a:avLst/>
          </a:prstGeom>
          <a:solidFill>
            <a:srgbClr val="2A7D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3065404" y="5463449"/>
            <a:ext cx="121890" cy="60990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3233105" y="5413888"/>
            <a:ext cx="602350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24" b="1" spc="63" kern="0" dirty="0">
                <a:solidFill>
                  <a:srgbClr val="2A7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海关扣货</a:t>
            </a:r>
            <a:endParaRPr lang="en-US" sz="924" dirty="0"/>
          </a:p>
        </p:txBody>
      </p:sp>
      <p:sp>
        <p:nvSpPr>
          <p:cNvPr id="67" name="Text 64"/>
          <p:cNvSpPr/>
          <p:nvPr/>
        </p:nvSpPr>
        <p:spPr>
          <a:xfrm>
            <a:off x="7292340" y="5615788"/>
            <a:ext cx="6460236" cy="221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2"/>
              </a:lnSpc>
              <a:buNone/>
            </a:pPr>
            <a:r>
              <a:rPr lang="en-US" sz="111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把'电池鼓包禁寄'的特例套到了普通手表黑屏上。</a:t>
            </a:r>
            <a:endParaRPr lang="en-US" sz="1110" dirty="0"/>
          </a:p>
        </p:txBody>
      </p:sp>
      <p:sp>
        <p:nvSpPr>
          <p:cNvPr id="68" name="Shape 65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914400" y="7254210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搜错资料了</a:t>
            </a:r>
            <a:endParaRPr lang="en-US" sz="1584" dirty="0"/>
          </a:p>
        </p:txBody>
      </p:sp>
      <p:sp>
        <p:nvSpPr>
          <p:cNvPr id="71" name="Text 68"/>
          <p:cNvSpPr/>
          <p:nvPr/>
        </p:nvSpPr>
        <p:spPr>
          <a:xfrm>
            <a:off x="2020824" y="7275424"/>
            <a:ext cx="5014570" cy="25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搜出了已经作废的旧政策，而且完全没搜到 UN3481 锂电池运输规则！</a:t>
            </a:r>
            <a:endParaRPr lang="en-US" sz="1260" dirty="0"/>
          </a:p>
        </p:txBody>
      </p:sp>
      <p:pic>
        <p:nvPicPr>
          <p:cNvPr id="7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690" y="8382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0200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82788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第四步 · 怎么修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458450" y="720090"/>
            <a:ext cx="3531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元数据过滤 + 混合检索 + 二次重排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56952"/>
            <a:ext cx="12893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加了三招之后，效果前后对比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2125614"/>
            <a:ext cx="12801600" cy="7543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5680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14234"/>
            <a:ext cx="8486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效果对比</a:t>
            </a:r>
            <a:endParaRPr lang="en-US" sz="1386" dirty="0"/>
          </a:p>
        </p:txBody>
      </p:sp>
      <p:sp>
        <p:nvSpPr>
          <p:cNvPr id="13" name="Text 11"/>
          <p:cNvSpPr/>
          <p:nvPr/>
        </p:nvSpPr>
        <p:spPr>
          <a:xfrm>
            <a:off x="3764310" y="2195886"/>
            <a:ext cx="1886864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单路纯向量检索</a:t>
            </a:r>
            <a:endParaRPr lang="en-US" sz="2040" dirty="0"/>
          </a:p>
        </p:txBody>
      </p:sp>
      <p:sp>
        <p:nvSpPr>
          <p:cNvPr id="14" name="Text 12"/>
          <p:cNvSpPr/>
          <p:nvPr/>
        </p:nvSpPr>
        <p:spPr>
          <a:xfrm>
            <a:off x="3764310" y="2544684"/>
            <a:ext cx="77828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玩具原型</a:t>
            </a:r>
            <a:endParaRPr lang="en-US" sz="1254" dirty="0"/>
          </a:p>
        </p:txBody>
      </p:sp>
      <p:sp>
        <p:nvSpPr>
          <p:cNvPr id="15" name="Text 13"/>
          <p:cNvSpPr/>
          <p:nvPr/>
        </p:nvSpPr>
        <p:spPr>
          <a:xfrm>
            <a:off x="7086600" y="2195886"/>
            <a:ext cx="179597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过滤+混合检索</a:t>
            </a:r>
            <a:endParaRPr lang="en-US" sz="2040" dirty="0"/>
          </a:p>
        </p:txBody>
      </p:sp>
      <p:sp>
        <p:nvSpPr>
          <p:cNvPr id="16" name="Text 14"/>
          <p:cNvSpPr/>
          <p:nvPr/>
        </p:nvSpPr>
        <p:spPr>
          <a:xfrm>
            <a:off x="7086600" y="2544684"/>
            <a:ext cx="77828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工业可用</a:t>
            </a:r>
            <a:endParaRPr lang="en-US" sz="1254" dirty="0"/>
          </a:p>
        </p:txBody>
      </p:sp>
      <p:sp>
        <p:nvSpPr>
          <p:cNvPr id="17" name="Text 15"/>
          <p:cNvSpPr/>
          <p:nvPr/>
        </p:nvSpPr>
        <p:spPr>
          <a:xfrm>
            <a:off x="10408890" y="2195886"/>
            <a:ext cx="1961571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过滤+混合+重排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0408890" y="2544684"/>
            <a:ext cx="95017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生产级标杆</a:t>
            </a:r>
            <a:endParaRPr lang="en-US" sz="1254" dirty="0"/>
          </a:p>
        </p:txBody>
      </p:sp>
      <p:sp>
        <p:nvSpPr>
          <p:cNvPr id="19" name="Shape 17"/>
          <p:cNvSpPr/>
          <p:nvPr/>
        </p:nvSpPr>
        <p:spPr>
          <a:xfrm>
            <a:off x="914400" y="2879994"/>
            <a:ext cx="12801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691361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093324"/>
            <a:ext cx="146037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 召回文档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337194"/>
            <a:ext cx="163374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TOP-1 DOCUMENT</a:t>
            </a:r>
            <a:endParaRPr lang="en-US" sz="1188" dirty="0"/>
          </a:p>
        </p:txBody>
      </p:sp>
      <p:sp>
        <p:nvSpPr>
          <p:cNvPr id="23" name="Shape 21"/>
          <p:cNvSpPr/>
          <p:nvPr/>
        </p:nvSpPr>
        <p:spPr>
          <a:xfrm>
            <a:off x="3627150" y="2879994"/>
            <a:ext cx="3307110" cy="815370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64310" y="3190021"/>
            <a:ext cx="195315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已作废旧政策</a:t>
            </a:r>
            <a:endParaRPr lang="en-US" sz="1680" dirty="0"/>
          </a:p>
        </p:txBody>
      </p:sp>
      <p:sp>
        <p:nvSpPr>
          <p:cNvPr id="25" name="Text 23"/>
          <p:cNvSpPr/>
          <p:nvPr/>
        </p:nvSpPr>
        <p:spPr>
          <a:xfrm>
            <a:off x="7086600" y="3190021"/>
            <a:ext cx="215798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德国锂电池准则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10408890" y="3190021"/>
            <a:ext cx="236281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德国智能设备退货</a:t>
            </a:r>
            <a:endParaRPr lang="en-US" sz="1680" dirty="0"/>
          </a:p>
        </p:txBody>
      </p:sp>
      <p:sp>
        <p:nvSpPr>
          <p:cNvPr id="27" name="Shape 25"/>
          <p:cNvSpPr/>
          <p:nvPr/>
        </p:nvSpPr>
        <p:spPr>
          <a:xfrm>
            <a:off x="914400" y="3702954"/>
            <a:ext cx="12801600" cy="823051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51441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916284"/>
            <a:ext cx="14249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作废旧版本防范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" y="4160154"/>
            <a:ext cx="199101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ISOLATION</a:t>
            </a:r>
            <a:endParaRPr lang="en-US" sz="1188" dirty="0"/>
          </a:p>
        </p:txBody>
      </p:sp>
      <p:sp>
        <p:nvSpPr>
          <p:cNvPr id="31" name="Shape 29"/>
          <p:cNvSpPr/>
          <p:nvPr/>
        </p:nvSpPr>
        <p:spPr>
          <a:xfrm>
            <a:off x="3627150" y="3702954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764310" y="4012981"/>
            <a:ext cx="2277405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 误召回已作废旧规</a:t>
            </a:r>
            <a:endParaRPr lang="en-US" sz="1680" dirty="0"/>
          </a:p>
        </p:txBody>
      </p:sp>
      <p:sp>
        <p:nvSpPr>
          <p:cNvPr id="33" name="Text 31"/>
          <p:cNvSpPr/>
          <p:nvPr/>
        </p:nvSpPr>
        <p:spPr>
          <a:xfrm>
            <a:off x="6003585" y="4049695"/>
            <a:ext cx="58025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亿美元</a:t>
            </a:r>
            <a:endParaRPr lang="en-US" sz="1188" dirty="0"/>
          </a:p>
        </p:txBody>
      </p:sp>
      <p:sp>
        <p:nvSpPr>
          <p:cNvPr id="34" name="Text 32"/>
          <p:cNvSpPr/>
          <p:nvPr/>
        </p:nvSpPr>
        <p:spPr>
          <a:xfrm>
            <a:off x="7086600" y="4012981"/>
            <a:ext cx="2402769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元数据预过滤拦截</a:t>
            </a:r>
            <a:endParaRPr lang="en-US" sz="1680" dirty="0"/>
          </a:p>
        </p:txBody>
      </p:sp>
      <p:sp>
        <p:nvSpPr>
          <p:cNvPr id="35" name="Text 33"/>
          <p:cNvSpPr/>
          <p:nvPr/>
        </p:nvSpPr>
        <p:spPr>
          <a:xfrm>
            <a:off x="9451330" y="4049695"/>
            <a:ext cx="58025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亿美元</a:t>
            </a:r>
            <a:endParaRPr lang="en-US" sz="1188" dirty="0"/>
          </a:p>
        </p:txBody>
      </p:sp>
      <p:sp>
        <p:nvSpPr>
          <p:cNvPr id="36" name="Text 34"/>
          <p:cNvSpPr/>
          <p:nvPr/>
        </p:nvSpPr>
        <p:spPr>
          <a:xfrm>
            <a:off x="10408890" y="4012981"/>
            <a:ext cx="2402769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元数据预过滤拦截</a:t>
            </a:r>
            <a:endParaRPr lang="en-US" sz="1680" dirty="0"/>
          </a:p>
        </p:txBody>
      </p:sp>
      <p:sp>
        <p:nvSpPr>
          <p:cNvPr id="37" name="Text 35"/>
          <p:cNvSpPr/>
          <p:nvPr/>
        </p:nvSpPr>
        <p:spPr>
          <a:xfrm>
            <a:off x="12773619" y="4049695"/>
            <a:ext cx="58025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亿美元</a:t>
            </a:r>
            <a:endParaRPr lang="en-US" sz="1188" dirty="0"/>
          </a:p>
        </p:txBody>
      </p:sp>
      <p:sp>
        <p:nvSpPr>
          <p:cNvPr id="38" name="Shape 36"/>
          <p:cNvSpPr/>
          <p:nvPr/>
        </p:nvSpPr>
        <p:spPr>
          <a:xfrm>
            <a:off x="914400" y="4526006"/>
            <a:ext cx="12801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533737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1560" y="4739427"/>
            <a:ext cx="1701607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专有名词/SKU命中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51560" y="4983206"/>
            <a:ext cx="147090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/ SKU</a:t>
            </a:r>
            <a:endParaRPr lang="en-US" sz="1188" dirty="0"/>
          </a:p>
        </p:txBody>
      </p:sp>
      <p:sp>
        <p:nvSpPr>
          <p:cNvPr id="42" name="Shape 40"/>
          <p:cNvSpPr/>
          <p:nvPr/>
        </p:nvSpPr>
        <p:spPr>
          <a:xfrm>
            <a:off x="2889961" y="4526006"/>
            <a:ext cx="3342589" cy="815370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027121" y="4813584"/>
            <a:ext cx="2807299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稀疏编码丢失无法命中</a:t>
            </a:r>
            <a:endParaRPr lang="en-US" sz="2160" dirty="0"/>
          </a:p>
        </p:txBody>
      </p:sp>
      <p:sp>
        <p:nvSpPr>
          <p:cNvPr id="44" name="Text 42"/>
          <p:cNvSpPr/>
          <p:nvPr/>
        </p:nvSpPr>
        <p:spPr>
          <a:xfrm>
            <a:off x="5796290" y="4903196"/>
            <a:ext cx="58025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亿美元</a:t>
            </a:r>
            <a:endParaRPr lang="en-US" sz="1188" dirty="0"/>
          </a:p>
        </p:txBody>
      </p:sp>
      <p:sp>
        <p:nvSpPr>
          <p:cNvPr id="45" name="Text 43"/>
          <p:cNvSpPr/>
          <p:nvPr/>
        </p:nvSpPr>
        <p:spPr>
          <a:xfrm>
            <a:off x="6384981" y="4813584"/>
            <a:ext cx="3166384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精确命中 UN3481</a:t>
            </a:r>
            <a:endParaRPr lang="en-US" sz="2160" dirty="0"/>
          </a:p>
        </p:txBody>
      </p:sp>
      <p:sp>
        <p:nvSpPr>
          <p:cNvPr id="46" name="Text 44"/>
          <p:cNvSpPr/>
          <p:nvPr/>
        </p:nvSpPr>
        <p:spPr>
          <a:xfrm>
            <a:off x="9513235" y="4903196"/>
            <a:ext cx="58025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亿美元</a:t>
            </a:r>
            <a:endParaRPr lang="en-US" sz="1188" dirty="0"/>
          </a:p>
        </p:txBody>
      </p:sp>
      <p:sp>
        <p:nvSpPr>
          <p:cNvPr id="47" name="Text 45"/>
          <p:cNvSpPr/>
          <p:nvPr/>
        </p:nvSpPr>
        <p:spPr>
          <a:xfrm>
            <a:off x="10101834" y="4813584"/>
            <a:ext cx="3078876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语义与精确编码双重锁定</a:t>
            </a:r>
            <a:endParaRPr lang="en-US" sz="2160" dirty="0"/>
          </a:p>
        </p:txBody>
      </p:sp>
      <p:sp>
        <p:nvSpPr>
          <p:cNvPr id="48" name="Text 46"/>
          <p:cNvSpPr/>
          <p:nvPr/>
        </p:nvSpPr>
        <p:spPr>
          <a:xfrm>
            <a:off x="13142580" y="4903196"/>
            <a:ext cx="58025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亿美元</a:t>
            </a:r>
            <a:endParaRPr lang="en-US" sz="1188" dirty="0"/>
          </a:p>
        </p:txBody>
      </p:sp>
      <p:sp>
        <p:nvSpPr>
          <p:cNvPr id="49" name="Shape 47"/>
          <p:cNvSpPr/>
          <p:nvPr/>
        </p:nvSpPr>
        <p:spPr>
          <a:xfrm>
            <a:off x="914400" y="5348966"/>
            <a:ext cx="12801600" cy="823051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0" y="6160424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5562387"/>
            <a:ext cx="142491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跨站点政策隔离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51560" y="5806166"/>
            <a:ext cx="187645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ISOLATION</a:t>
            </a:r>
            <a:endParaRPr lang="en-US" sz="1188" dirty="0"/>
          </a:p>
        </p:txBody>
      </p:sp>
      <p:sp>
        <p:nvSpPr>
          <p:cNvPr id="53" name="Shape 51"/>
          <p:cNvSpPr/>
          <p:nvPr/>
        </p:nvSpPr>
        <p:spPr>
          <a:xfrm>
            <a:off x="3627150" y="5348966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764310" y="5658993"/>
            <a:ext cx="233921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 混入英国/法国政策</a:t>
            </a:r>
            <a:endParaRPr lang="en-US" sz="1680" dirty="0"/>
          </a:p>
        </p:txBody>
      </p:sp>
      <p:sp>
        <p:nvSpPr>
          <p:cNvPr id="55" name="Text 53"/>
          <p:cNvSpPr/>
          <p:nvPr/>
        </p:nvSpPr>
        <p:spPr>
          <a:xfrm>
            <a:off x="7086600" y="5658993"/>
            <a:ext cx="241493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按站点标签实现物理隔离</a:t>
            </a:r>
            <a:endParaRPr lang="en-US" sz="1680" dirty="0"/>
          </a:p>
        </p:txBody>
      </p:sp>
      <p:sp>
        <p:nvSpPr>
          <p:cNvPr id="56" name="Text 54"/>
          <p:cNvSpPr/>
          <p:nvPr/>
        </p:nvSpPr>
        <p:spPr>
          <a:xfrm>
            <a:off x="10408890" y="5658993"/>
            <a:ext cx="241493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严格限定德国站点上下文</a:t>
            </a:r>
            <a:endParaRPr lang="en-US" sz="1680" dirty="0"/>
          </a:p>
        </p:txBody>
      </p:sp>
      <p:sp>
        <p:nvSpPr>
          <p:cNvPr id="57" name="Text 55"/>
          <p:cNvSpPr/>
          <p:nvPr/>
        </p:nvSpPr>
        <p:spPr>
          <a:xfrm>
            <a:off x="1051560" y="6385438"/>
            <a:ext cx="1805940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最终客服答复准确率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1051560" y="6629309"/>
            <a:ext cx="238740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&amp; COMPLIANCE</a:t>
            </a:r>
            <a:endParaRPr lang="en-US" sz="1188" dirty="0"/>
          </a:p>
        </p:txBody>
      </p:sp>
      <p:sp>
        <p:nvSpPr>
          <p:cNvPr id="59" name="Shape 57"/>
          <p:cNvSpPr/>
          <p:nvPr/>
        </p:nvSpPr>
        <p:spPr>
          <a:xfrm>
            <a:off x="3627150" y="6172109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764310" y="6486022"/>
            <a:ext cx="168661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50% 满足合规要求</a:t>
            </a:r>
            <a:endParaRPr lang="en-US" sz="1320" dirty="0"/>
          </a:p>
        </p:txBody>
      </p:sp>
      <p:sp>
        <p:nvSpPr>
          <p:cNvPr id="61" name="Text 59"/>
          <p:cNvSpPr/>
          <p:nvPr/>
        </p:nvSpPr>
        <p:spPr>
          <a:xfrm>
            <a:off x="7086600" y="6486022"/>
            <a:ext cx="198763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 合规但偶有细节缺漏</a:t>
            </a:r>
            <a:endParaRPr lang="en-US" sz="1320" dirty="0"/>
          </a:p>
        </p:txBody>
      </p:sp>
      <p:sp>
        <p:nvSpPr>
          <p:cNvPr id="62" name="Text 60"/>
          <p:cNvSpPr/>
          <p:nvPr/>
        </p:nvSpPr>
        <p:spPr>
          <a:xfrm>
            <a:off x="10408890" y="6486022"/>
            <a:ext cx="19118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严密合规且无遗漏</a:t>
            </a:r>
            <a:endParaRPr lang="en-US" sz="1320" dirty="0"/>
          </a:p>
        </p:txBody>
      </p:sp>
      <p:sp>
        <p:nvSpPr>
          <p:cNvPr id="63" name="Shape 61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0" y="7254210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一句话总结</a:t>
            </a:r>
            <a:endParaRPr lang="en-US" sz="1584" dirty="0"/>
          </a:p>
        </p:txBody>
      </p:sp>
      <p:sp>
        <p:nvSpPr>
          <p:cNvPr id="66" name="Text 64"/>
          <p:cNvSpPr/>
          <p:nvPr/>
        </p:nvSpPr>
        <p:spPr>
          <a:xfrm>
            <a:off x="2020824" y="7258782"/>
            <a:ext cx="7553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先按年份和站点过滤掉不该看的，再用 BM25 抓住专有编码，最后用重排挑最准的，全对了。</a:t>
            </a:r>
            <a:endParaRPr lang="en-US" sz="1440" dirty="0"/>
          </a:p>
        </p:txBody>
      </p:sp>
      <p:pic>
        <p:nvPicPr>
          <p:cNvPr id="6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0" y="97539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0190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技术选型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583619" y="720090"/>
            <a:ext cx="247409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遇到什么问题就用什么招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614111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什么场景该上什么高阶技术？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7116501" y="1600200"/>
            <a:ext cx="22860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按业务瓶颈选技术，别瞎堆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018904"/>
            <a:ext cx="2214402" cy="4999116"/>
          </a:xfrm>
          <a:prstGeom prst="rect">
            <a:avLst/>
          </a:prstGeom>
          <a:solidFill>
            <a:srgbClr val="6E85FF"/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2550" y="2188570"/>
            <a:ext cx="1902043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spc="-3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元数据预过滤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12550" y="2652857"/>
            <a:ext cx="10058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基础标配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2550" y="2963845"/>
            <a:ext cx="1883816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FILTERING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1112550" y="3238165"/>
            <a:ext cx="36332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1387328" y="3306745"/>
            <a:ext cx="57909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推荐权重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1112550" y="6661404"/>
            <a:ext cx="197547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056" spc="72" kern="0" dirty="0">
                <a:solidFill>
                  <a:srgbClr val="FFFFFF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防旧规、防站点串线、防越权</a:t>
            </a:r>
            <a:endParaRPr lang="en-US" sz="1056" dirty="0"/>
          </a:p>
        </p:txBody>
      </p:sp>
      <p:sp>
        <p:nvSpPr>
          <p:cNvPr id="18" name="Shape 16"/>
          <p:cNvSpPr/>
          <p:nvPr/>
        </p:nvSpPr>
        <p:spPr>
          <a:xfrm>
            <a:off x="3189793" y="2018904"/>
            <a:ext cx="10526207" cy="1547531"/>
          </a:xfrm>
          <a:prstGeom prst="rect">
            <a:avLst/>
          </a:prstGeom>
          <a:solidFill>
            <a:srgbClr val="A9A7A1">
              <a:alpha val="19000"/>
            </a:srgbClr>
          </a:solidFill>
          <a:ln w="19050">
            <a:solidFill>
              <a:srgbClr val="A9A7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7943" y="2203750"/>
            <a:ext cx="1298539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spc="-3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71212" y="2271827"/>
            <a:ext cx="10058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基础标配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87943" y="2582814"/>
            <a:ext cx="2079346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HYBRID: BM25 + VECTOR</a:t>
            </a:r>
            <a:endParaRPr lang="en-US" sz="1056" dirty="0"/>
          </a:p>
        </p:txBody>
      </p:sp>
      <p:sp>
        <p:nvSpPr>
          <p:cNvPr id="22" name="Text 20"/>
          <p:cNvSpPr/>
          <p:nvPr/>
        </p:nvSpPr>
        <p:spPr>
          <a:xfrm>
            <a:off x="3387943" y="2857134"/>
            <a:ext cx="36332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3662721" y="2925714"/>
            <a:ext cx="57909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84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推荐权重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3387943" y="3209910"/>
            <a:ext cx="251664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SKU、型号、UN3481 这类专有编码</a:t>
            </a:r>
            <a:endParaRPr lang="en-US" sz="1056" dirty="0"/>
          </a:p>
        </p:txBody>
      </p:sp>
      <p:sp>
        <p:nvSpPr>
          <p:cNvPr id="25" name="Shape 23"/>
          <p:cNvSpPr/>
          <p:nvPr/>
        </p:nvSpPr>
        <p:spPr>
          <a:xfrm>
            <a:off x="3189793" y="3627516"/>
            <a:ext cx="10526207" cy="1399306"/>
          </a:xfrm>
          <a:prstGeom prst="rect">
            <a:avLst/>
          </a:prstGeom>
          <a:solidFill>
            <a:srgbClr val="84827C">
              <a:alpha val="19000"/>
            </a:srgbClr>
          </a:solidFill>
          <a:ln w="19050">
            <a:solidFill>
              <a:srgbClr val="8482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6953" y="3756995"/>
            <a:ext cx="876087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56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二次重排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4187769" y="3795126"/>
            <a:ext cx="73152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核心标配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3326953" y="4023726"/>
            <a:ext cx="1706848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CROSS-ENCODER RERANK</a:t>
            </a:r>
            <a:endParaRPr lang="en-US" sz="858" dirty="0"/>
          </a:p>
        </p:txBody>
      </p:sp>
      <p:sp>
        <p:nvSpPr>
          <p:cNvPr id="29" name="Text 27"/>
          <p:cNvSpPr/>
          <p:nvPr/>
        </p:nvSpPr>
        <p:spPr>
          <a:xfrm>
            <a:off x="3326953" y="4221876"/>
            <a:ext cx="295046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3528030" y="4267596"/>
            <a:ext cx="490118" cy="134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4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推荐权重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3326953" y="4760915"/>
            <a:ext cx="1933794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5"/>
              </a:lnSpc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搜回来的段落太多，需要精挑最准的</a:t>
            </a:r>
            <a:endParaRPr lang="en-US" sz="858" dirty="0"/>
          </a:p>
        </p:txBody>
      </p:sp>
      <p:sp>
        <p:nvSpPr>
          <p:cNvPr id="32" name="Shape 30"/>
          <p:cNvSpPr/>
          <p:nvPr/>
        </p:nvSpPr>
        <p:spPr>
          <a:xfrm>
            <a:off x="3189793" y="5087813"/>
            <a:ext cx="5403647" cy="1930207"/>
          </a:xfrm>
          <a:prstGeom prst="rect">
            <a:avLst/>
          </a:prstGeom>
          <a:solidFill>
            <a:srgbClr val="605E59">
              <a:alpha val="19000"/>
            </a:srgbClr>
          </a:solidFill>
          <a:ln w="19050">
            <a:solidFill>
              <a:srgbClr val="605E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6953" y="5217292"/>
            <a:ext cx="126836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56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知识图谱增强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4580138" y="5255423"/>
            <a:ext cx="73152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进阶选型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3326953" y="5484023"/>
            <a:ext cx="75864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GRAPHRAG</a:t>
            </a:r>
            <a:endParaRPr lang="en-US" sz="858" dirty="0"/>
          </a:p>
        </p:txBody>
      </p:sp>
      <p:sp>
        <p:nvSpPr>
          <p:cNvPr id="36" name="Text 34"/>
          <p:cNvSpPr/>
          <p:nvPr/>
        </p:nvSpPr>
        <p:spPr>
          <a:xfrm>
            <a:off x="3326953" y="5682173"/>
            <a:ext cx="295046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3527938" y="5727893"/>
            <a:ext cx="490118" cy="134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4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推荐权重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3326953" y="6752112"/>
            <a:ext cx="174325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5"/>
              </a:lnSpc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需要跨多份文档做复杂关联推理</a:t>
            </a:r>
            <a:endParaRPr lang="en-US" sz="858" dirty="0"/>
          </a:p>
        </p:txBody>
      </p:sp>
      <p:sp>
        <p:nvSpPr>
          <p:cNvPr id="39" name="Shape 37"/>
          <p:cNvSpPr/>
          <p:nvPr/>
        </p:nvSpPr>
        <p:spPr>
          <a:xfrm>
            <a:off x="8654430" y="5087813"/>
            <a:ext cx="5061570" cy="1930207"/>
          </a:xfrm>
          <a:prstGeom prst="rect">
            <a:avLst/>
          </a:prstGeom>
          <a:solidFill>
            <a:srgbClr val="46443F">
              <a:alpha val="19000"/>
            </a:srgbClr>
          </a:solidFill>
          <a:ln w="19050">
            <a:solidFill>
              <a:srgbClr val="4644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91590" y="5217292"/>
            <a:ext cx="1072134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560" b="1" spc="-1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多步智能体</a:t>
            </a:r>
            <a:endParaRPr lang="en-US" sz="1560" dirty="0"/>
          </a:p>
        </p:txBody>
      </p:sp>
      <p:sp>
        <p:nvSpPr>
          <p:cNvPr id="41" name="Text 39"/>
          <p:cNvSpPr/>
          <p:nvPr/>
        </p:nvSpPr>
        <p:spPr>
          <a:xfrm>
            <a:off x="9848454" y="5255423"/>
            <a:ext cx="73152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进阶选型</a:t>
            </a:r>
            <a:endParaRPr lang="en-US" sz="1260" dirty="0"/>
          </a:p>
        </p:txBody>
      </p:sp>
      <p:sp>
        <p:nvSpPr>
          <p:cNvPr id="42" name="Text 40"/>
          <p:cNvSpPr/>
          <p:nvPr/>
        </p:nvSpPr>
        <p:spPr>
          <a:xfrm>
            <a:off x="8791590" y="5484023"/>
            <a:ext cx="971996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RAG</a:t>
            </a:r>
            <a:endParaRPr lang="en-US" sz="858" dirty="0"/>
          </a:p>
        </p:txBody>
      </p:sp>
      <p:sp>
        <p:nvSpPr>
          <p:cNvPr id="43" name="Text 41"/>
          <p:cNvSpPr/>
          <p:nvPr/>
        </p:nvSpPr>
        <p:spPr>
          <a:xfrm>
            <a:off x="8791590" y="5682173"/>
            <a:ext cx="295046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140" dirty="0"/>
          </a:p>
        </p:txBody>
      </p:sp>
      <p:sp>
        <p:nvSpPr>
          <p:cNvPr id="44" name="Text 42"/>
          <p:cNvSpPr/>
          <p:nvPr/>
        </p:nvSpPr>
        <p:spPr>
          <a:xfrm>
            <a:off x="8992575" y="5727893"/>
            <a:ext cx="490118" cy="134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4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推荐权重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8791590" y="6752112"/>
            <a:ext cx="1508034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15"/>
              </a:lnSpc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查完政策再查订单再算运费</a:t>
            </a:r>
            <a:endParaRPr lang="en-US" sz="858" dirty="0"/>
          </a:p>
        </p:txBody>
      </p:sp>
      <p:sp>
        <p:nvSpPr>
          <p:cNvPr id="46" name="Shape 44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老手忠告</a:t>
            </a:r>
            <a:endParaRPr lang="en-US" sz="1584" dirty="0"/>
          </a:p>
        </p:txBody>
      </p:sp>
      <p:sp>
        <p:nvSpPr>
          <p:cNvPr id="49" name="Text 47"/>
          <p:cNvSpPr/>
          <p:nvPr/>
        </p:nvSpPr>
        <p:spPr>
          <a:xfrm>
            <a:off x="1826971" y="7275424"/>
            <a:ext cx="5061844" cy="25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能用元数据过滤和混合检索搞定的，别急着上 GraphRAG 和多智能体。</a:t>
            </a:r>
            <a:endParaRPr lang="en-US" sz="126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0690" y="8382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0190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真实挑战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389766" y="720090"/>
            <a:ext cx="260873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现实中的资料到底有多脏？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7071878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数据没洗干净，后面怎么调都白搭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8047177" y="1600200"/>
            <a:ext cx="256315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实际项目 80% 时间都在洗数据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003725"/>
            <a:ext cx="629409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315849"/>
            <a:ext cx="6294090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9977" y="2057034"/>
            <a:ext cx="13716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四类典型脏数据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4160756" y="2072305"/>
            <a:ext cx="115770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22" spc="77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双栏 PDF 错乱</a:t>
            </a:r>
            <a:endParaRPr lang="en-US" sz="1122" dirty="0"/>
          </a:p>
        </p:txBody>
      </p:sp>
      <p:sp>
        <p:nvSpPr>
          <p:cNvPr id="15" name="Shape 13"/>
          <p:cNvSpPr/>
          <p:nvPr/>
        </p:nvSpPr>
        <p:spPr>
          <a:xfrm>
            <a:off x="7421910" y="2003725"/>
            <a:ext cx="629409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1910" y="2315849"/>
            <a:ext cx="6294090" cy="23186"/>
          </a:xfrm>
          <a:prstGeom prst="rect">
            <a:avLst/>
          </a:prstGeom>
          <a:solidFill>
            <a:srgbClr val="7BA80C"/>
          </a:solidFill>
          <a:ln w="12700">
            <a:solidFill>
              <a:srgbClr val="7BA80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8129" y="2057034"/>
            <a:ext cx="100584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跨页大表格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10402646" y="2072305"/>
            <a:ext cx="132309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22" spc="77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多轮客服对话噪声</a:t>
            </a:r>
            <a:endParaRPr lang="en-US" sz="1122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45654"/>
            <a:ext cx="12801600" cy="2743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96486" y="3640210"/>
            <a:ext cx="2798978" cy="375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双栏 PDF 排版错乱</a:t>
            </a:r>
            <a:endParaRPr lang="en-US" sz="2520" dirty="0"/>
          </a:p>
        </p:txBody>
      </p:sp>
      <p:sp>
        <p:nvSpPr>
          <p:cNvPr id="21" name="Text 18"/>
          <p:cNvSpPr/>
          <p:nvPr/>
        </p:nvSpPr>
        <p:spPr>
          <a:xfrm>
            <a:off x="4061673" y="3640210"/>
            <a:ext cx="2331263" cy="375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表格跨了好几页</a:t>
            </a:r>
            <a:endParaRPr lang="en-US" sz="2520" dirty="0"/>
          </a:p>
        </p:txBody>
      </p:sp>
      <p:sp>
        <p:nvSpPr>
          <p:cNvPr id="22" name="Text 19"/>
          <p:cNvSpPr/>
          <p:nvPr/>
        </p:nvSpPr>
        <p:spPr>
          <a:xfrm>
            <a:off x="7848935" y="3640210"/>
            <a:ext cx="3295772" cy="375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客服聊天记录又长又乱</a:t>
            </a:r>
            <a:endParaRPr lang="en-US" sz="2520" dirty="0"/>
          </a:p>
        </p:txBody>
      </p:sp>
      <p:sp>
        <p:nvSpPr>
          <p:cNvPr id="23" name="Text 20"/>
          <p:cNvSpPr/>
          <p:nvPr/>
        </p:nvSpPr>
        <p:spPr>
          <a:xfrm>
            <a:off x="10142525" y="3640210"/>
            <a:ext cx="2971251" cy="3751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买家的个人隐私信息</a:t>
            </a:r>
            <a:endParaRPr lang="en-US" sz="2520" dirty="0"/>
          </a:p>
        </p:txBody>
      </p:sp>
      <p:sp>
        <p:nvSpPr>
          <p:cNvPr id="24" name="Text 21"/>
          <p:cNvSpPr/>
          <p:nvPr/>
        </p:nvSpPr>
        <p:spPr>
          <a:xfrm>
            <a:off x="2337755" y="5033863"/>
            <a:ext cx="1759313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150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新旧政策版本冲突</a:t>
            </a:r>
            <a:endParaRPr lang="en-US" sz="1452" dirty="0"/>
          </a:p>
        </p:txBody>
      </p:sp>
      <p:sp>
        <p:nvSpPr>
          <p:cNvPr id="25" name="Text 22"/>
          <p:cNvSpPr/>
          <p:nvPr/>
        </p:nvSpPr>
        <p:spPr>
          <a:xfrm>
            <a:off x="4471325" y="5033863"/>
            <a:ext cx="1759313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150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新旧政策版本冲突</a:t>
            </a:r>
            <a:endParaRPr lang="en-US" sz="1452" dirty="0"/>
          </a:p>
        </p:txBody>
      </p:sp>
      <p:sp>
        <p:nvSpPr>
          <p:cNvPr id="26" name="Text 23"/>
          <p:cNvSpPr/>
          <p:nvPr/>
        </p:nvSpPr>
        <p:spPr>
          <a:xfrm>
            <a:off x="8738555" y="5033863"/>
            <a:ext cx="1759313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150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新旧政策版本冲突</a:t>
            </a:r>
            <a:endParaRPr lang="en-US" sz="1452" dirty="0"/>
          </a:p>
        </p:txBody>
      </p:sp>
      <p:sp>
        <p:nvSpPr>
          <p:cNvPr id="27" name="Text 24"/>
          <p:cNvSpPr/>
          <p:nvPr/>
        </p:nvSpPr>
        <p:spPr>
          <a:xfrm>
            <a:off x="10872125" y="5033863"/>
            <a:ext cx="1759313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150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新旧政策版本冲突</a:t>
            </a:r>
            <a:endParaRPr lang="en-US" sz="1452" dirty="0"/>
          </a:p>
        </p:txBody>
      </p:sp>
      <p:sp>
        <p:nvSpPr>
          <p:cNvPr id="28" name="Shape 25"/>
          <p:cNvSpPr/>
          <p:nvPr/>
        </p:nvSpPr>
        <p:spPr>
          <a:xfrm>
            <a:off x="914400" y="5341285"/>
            <a:ext cx="3194639" cy="166018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14400" y="5341285"/>
            <a:ext cx="3194639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82010" y="5569885"/>
            <a:ext cx="81747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多语言机器</a:t>
            </a:r>
            <a:endParaRPr lang="en-US" sz="1056" dirty="0"/>
          </a:p>
        </p:txBody>
      </p:sp>
      <p:sp>
        <p:nvSpPr>
          <p:cNvPr id="31" name="Text 28"/>
          <p:cNvSpPr/>
          <p:nvPr/>
        </p:nvSpPr>
        <p:spPr>
          <a:xfrm>
            <a:off x="1082010" y="5752765"/>
            <a:ext cx="67272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翻译噪声</a:t>
            </a:r>
            <a:endParaRPr lang="en-US" sz="1056" dirty="0"/>
          </a:p>
        </p:txBody>
      </p:sp>
      <p:sp>
        <p:nvSpPr>
          <p:cNvPr id="32" name="Text 29"/>
          <p:cNvSpPr/>
          <p:nvPr/>
        </p:nvSpPr>
        <p:spPr>
          <a:xfrm>
            <a:off x="1599011" y="5752765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6" dirty="0"/>
          </a:p>
        </p:txBody>
      </p:sp>
      <p:sp>
        <p:nvSpPr>
          <p:cNvPr id="33" name="Text 30"/>
          <p:cNvSpPr/>
          <p:nvPr/>
        </p:nvSpPr>
        <p:spPr>
          <a:xfrm>
            <a:off x="1924263" y="5524165"/>
            <a:ext cx="96761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双栏 PDF</a:t>
            </a:r>
            <a:endParaRPr lang="en-US" sz="1620" dirty="0"/>
          </a:p>
        </p:txBody>
      </p:sp>
      <p:sp>
        <p:nvSpPr>
          <p:cNvPr id="34" name="Text 31"/>
          <p:cNvSpPr/>
          <p:nvPr/>
        </p:nvSpPr>
        <p:spPr>
          <a:xfrm>
            <a:off x="1924263" y="5821345"/>
            <a:ext cx="914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排版错乱</a:t>
            </a:r>
            <a:endParaRPr lang="en-US" sz="1620" dirty="0"/>
          </a:p>
        </p:txBody>
      </p:sp>
      <p:sp>
        <p:nvSpPr>
          <p:cNvPr id="35" name="Text 32"/>
          <p:cNvSpPr/>
          <p:nvPr/>
        </p:nvSpPr>
        <p:spPr>
          <a:xfrm>
            <a:off x="3069915" y="5577474"/>
            <a:ext cx="90894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普通解析器左</a:t>
            </a:r>
            <a:endParaRPr lang="en-US" sz="990" dirty="0"/>
          </a:p>
        </p:txBody>
      </p:sp>
      <p:sp>
        <p:nvSpPr>
          <p:cNvPr id="36" name="Text 33"/>
          <p:cNvSpPr/>
          <p:nvPr/>
        </p:nvSpPr>
        <p:spPr>
          <a:xfrm>
            <a:off x="3069915" y="5745084"/>
            <a:ext cx="77324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右栏串着读</a:t>
            </a:r>
            <a:endParaRPr lang="en-US" sz="990" dirty="0"/>
          </a:p>
        </p:txBody>
      </p:sp>
      <p:sp>
        <p:nvSpPr>
          <p:cNvPr id="37" name="Text 34"/>
          <p:cNvSpPr/>
          <p:nvPr/>
        </p:nvSpPr>
        <p:spPr>
          <a:xfrm>
            <a:off x="1082010" y="6164245"/>
            <a:ext cx="281178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专业版面识别工具把左右栏和图文的阅</a:t>
            </a:r>
            <a:endParaRPr lang="en-US" sz="1260" dirty="0"/>
          </a:p>
        </p:txBody>
      </p:sp>
      <p:sp>
        <p:nvSpPr>
          <p:cNvPr id="38" name="Text 35"/>
          <p:cNvSpPr/>
          <p:nvPr/>
        </p:nvSpPr>
        <p:spPr>
          <a:xfrm>
            <a:off x="1082010" y="6396137"/>
            <a:ext cx="121158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读顺序理清楚。</a:t>
            </a:r>
            <a:endParaRPr lang="en-US" sz="1260" dirty="0"/>
          </a:p>
        </p:txBody>
      </p:sp>
      <p:sp>
        <p:nvSpPr>
          <p:cNvPr id="39" name="Shape 36"/>
          <p:cNvSpPr/>
          <p:nvPr/>
        </p:nvSpPr>
        <p:spPr>
          <a:xfrm>
            <a:off x="4109039" y="5341285"/>
            <a:ext cx="3202320" cy="166018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09039" y="5341285"/>
            <a:ext cx="3202320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09039" y="5341285"/>
            <a:ext cx="11593" cy="166018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284330" y="5569885"/>
            <a:ext cx="96222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多语言机器翻</a:t>
            </a:r>
            <a:endParaRPr lang="en-US" sz="1056" dirty="0"/>
          </a:p>
        </p:txBody>
      </p:sp>
      <p:sp>
        <p:nvSpPr>
          <p:cNvPr id="43" name="Text 40"/>
          <p:cNvSpPr/>
          <p:nvPr/>
        </p:nvSpPr>
        <p:spPr>
          <a:xfrm>
            <a:off x="4284330" y="5752765"/>
            <a:ext cx="52797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译噪声</a:t>
            </a:r>
            <a:endParaRPr lang="en-US" sz="1056" dirty="0"/>
          </a:p>
        </p:txBody>
      </p:sp>
      <p:sp>
        <p:nvSpPr>
          <p:cNvPr id="44" name="Text 41"/>
          <p:cNvSpPr/>
          <p:nvPr/>
        </p:nvSpPr>
        <p:spPr>
          <a:xfrm>
            <a:off x="4672127" y="5752765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6" dirty="0"/>
          </a:p>
        </p:txBody>
      </p:sp>
      <p:sp>
        <p:nvSpPr>
          <p:cNvPr id="45" name="Text 42"/>
          <p:cNvSpPr/>
          <p:nvPr/>
        </p:nvSpPr>
        <p:spPr>
          <a:xfrm>
            <a:off x="5157216" y="5524165"/>
            <a:ext cx="914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表格跨了</a:t>
            </a:r>
            <a:endParaRPr lang="en-US" sz="1620" dirty="0"/>
          </a:p>
        </p:txBody>
      </p:sp>
      <p:sp>
        <p:nvSpPr>
          <p:cNvPr id="46" name="Text 43"/>
          <p:cNvSpPr/>
          <p:nvPr/>
        </p:nvSpPr>
        <p:spPr>
          <a:xfrm>
            <a:off x="5157216" y="5821345"/>
            <a:ext cx="7086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好几页</a:t>
            </a:r>
            <a:endParaRPr lang="en-US" sz="1620" dirty="0"/>
          </a:p>
        </p:txBody>
      </p:sp>
      <p:sp>
        <p:nvSpPr>
          <p:cNvPr id="47" name="Text 44"/>
          <p:cNvSpPr/>
          <p:nvPr/>
        </p:nvSpPr>
        <p:spPr>
          <a:xfrm>
            <a:off x="6154918" y="5577474"/>
            <a:ext cx="10446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切块以后只剩孤</a:t>
            </a:r>
            <a:endParaRPr lang="en-US" sz="990" dirty="0"/>
          </a:p>
        </p:txBody>
      </p:sp>
      <p:sp>
        <p:nvSpPr>
          <p:cNvPr id="48" name="Text 45"/>
          <p:cNvSpPr/>
          <p:nvPr/>
        </p:nvSpPr>
        <p:spPr>
          <a:xfrm>
            <a:off x="6154918" y="5745084"/>
            <a:ext cx="77324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零零的数字</a:t>
            </a:r>
            <a:endParaRPr lang="en-US" sz="990" dirty="0"/>
          </a:p>
        </p:txBody>
      </p:sp>
      <p:sp>
        <p:nvSpPr>
          <p:cNvPr id="49" name="Text 46"/>
          <p:cNvSpPr/>
          <p:nvPr/>
        </p:nvSpPr>
        <p:spPr>
          <a:xfrm>
            <a:off x="4284330" y="6164245"/>
            <a:ext cx="281178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表格被切断后，给每一截都自动带上完</a:t>
            </a:r>
            <a:endParaRPr lang="en-US" sz="1260" dirty="0"/>
          </a:p>
        </p:txBody>
      </p:sp>
      <p:sp>
        <p:nvSpPr>
          <p:cNvPr id="50" name="Text 47"/>
          <p:cNvSpPr/>
          <p:nvPr/>
        </p:nvSpPr>
        <p:spPr>
          <a:xfrm>
            <a:off x="4284330" y="6396137"/>
            <a:ext cx="217170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整的表头，不然谁也看不懂。</a:t>
            </a:r>
            <a:endParaRPr lang="en-US" sz="1260" dirty="0"/>
          </a:p>
        </p:txBody>
      </p:sp>
      <p:sp>
        <p:nvSpPr>
          <p:cNvPr id="51" name="Shape 48"/>
          <p:cNvSpPr/>
          <p:nvPr/>
        </p:nvSpPr>
        <p:spPr>
          <a:xfrm>
            <a:off x="7311360" y="5341285"/>
            <a:ext cx="3202320" cy="166018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311360" y="5341285"/>
            <a:ext cx="3202320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11360" y="5341285"/>
            <a:ext cx="11593" cy="166018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86650" y="5569885"/>
            <a:ext cx="81747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多语言机器</a:t>
            </a:r>
            <a:endParaRPr lang="en-US" sz="1056" dirty="0"/>
          </a:p>
        </p:txBody>
      </p:sp>
      <p:sp>
        <p:nvSpPr>
          <p:cNvPr id="55" name="Text 52"/>
          <p:cNvSpPr/>
          <p:nvPr/>
        </p:nvSpPr>
        <p:spPr>
          <a:xfrm>
            <a:off x="7486650" y="5752765"/>
            <a:ext cx="67272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翻译噪声</a:t>
            </a:r>
            <a:endParaRPr lang="en-US" sz="1056" dirty="0"/>
          </a:p>
        </p:txBody>
      </p:sp>
      <p:sp>
        <p:nvSpPr>
          <p:cNvPr id="56" name="Text 53"/>
          <p:cNvSpPr/>
          <p:nvPr/>
        </p:nvSpPr>
        <p:spPr>
          <a:xfrm>
            <a:off x="8003652" y="5752765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6" dirty="0"/>
          </a:p>
        </p:txBody>
      </p:sp>
      <p:sp>
        <p:nvSpPr>
          <p:cNvPr id="57" name="Text 54"/>
          <p:cNvSpPr/>
          <p:nvPr/>
        </p:nvSpPr>
        <p:spPr>
          <a:xfrm>
            <a:off x="8258038" y="5524165"/>
            <a:ext cx="11201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客服聊天记</a:t>
            </a:r>
            <a:endParaRPr lang="en-US" sz="1620" dirty="0"/>
          </a:p>
        </p:txBody>
      </p:sp>
      <p:sp>
        <p:nvSpPr>
          <p:cNvPr id="58" name="Text 55"/>
          <p:cNvSpPr/>
          <p:nvPr/>
        </p:nvSpPr>
        <p:spPr>
          <a:xfrm>
            <a:off x="8258038" y="5821345"/>
            <a:ext cx="11201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录又长又乱</a:t>
            </a:r>
            <a:endParaRPr lang="en-US" sz="1620" dirty="0"/>
          </a:p>
        </p:txBody>
      </p:sp>
      <p:sp>
        <p:nvSpPr>
          <p:cNvPr id="59" name="Text 56"/>
          <p:cNvSpPr/>
          <p:nvPr/>
        </p:nvSpPr>
        <p:spPr>
          <a:xfrm>
            <a:off x="9483060" y="5577474"/>
            <a:ext cx="90894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夹杂情绪、寒</a:t>
            </a:r>
            <a:endParaRPr lang="en-US" sz="990" dirty="0"/>
          </a:p>
        </p:txBody>
      </p:sp>
      <p:sp>
        <p:nvSpPr>
          <p:cNvPr id="60" name="Text 57"/>
          <p:cNvSpPr/>
          <p:nvPr/>
        </p:nvSpPr>
        <p:spPr>
          <a:xfrm>
            <a:off x="9483060" y="5745084"/>
            <a:ext cx="908942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暄和发错的图</a:t>
            </a:r>
            <a:endParaRPr lang="en-US" sz="990" dirty="0"/>
          </a:p>
        </p:txBody>
      </p:sp>
      <p:sp>
        <p:nvSpPr>
          <p:cNvPr id="61" name="Text 58"/>
          <p:cNvSpPr/>
          <p:nvPr/>
        </p:nvSpPr>
        <p:spPr>
          <a:xfrm>
            <a:off x="7486650" y="6164245"/>
            <a:ext cx="281178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让大模型帮你把有用的问题和解决方案</a:t>
            </a:r>
            <a:endParaRPr lang="en-US" sz="1260" dirty="0"/>
          </a:p>
        </p:txBody>
      </p:sp>
      <p:sp>
        <p:nvSpPr>
          <p:cNvPr id="62" name="Text 59"/>
          <p:cNvSpPr/>
          <p:nvPr/>
        </p:nvSpPr>
        <p:spPr>
          <a:xfrm>
            <a:off x="7486650" y="6396137"/>
            <a:ext cx="185166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提炼出来，废话全扔掉。</a:t>
            </a:r>
            <a:endParaRPr lang="en-US" sz="1260" dirty="0"/>
          </a:p>
        </p:txBody>
      </p:sp>
      <p:sp>
        <p:nvSpPr>
          <p:cNvPr id="63" name="Shape 60"/>
          <p:cNvSpPr/>
          <p:nvPr/>
        </p:nvSpPr>
        <p:spPr>
          <a:xfrm>
            <a:off x="10513680" y="5341285"/>
            <a:ext cx="3202320" cy="166018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513680" y="5341285"/>
            <a:ext cx="3202320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13680" y="5341285"/>
            <a:ext cx="11593" cy="166018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688970" y="5569885"/>
            <a:ext cx="81747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多语言机器</a:t>
            </a:r>
            <a:endParaRPr lang="en-US" sz="1056" dirty="0"/>
          </a:p>
        </p:txBody>
      </p:sp>
      <p:sp>
        <p:nvSpPr>
          <p:cNvPr id="67" name="Text 64"/>
          <p:cNvSpPr/>
          <p:nvPr/>
        </p:nvSpPr>
        <p:spPr>
          <a:xfrm>
            <a:off x="10688970" y="5752765"/>
            <a:ext cx="67272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翻译噪声</a:t>
            </a:r>
            <a:endParaRPr lang="en-US" sz="1056" dirty="0"/>
          </a:p>
        </p:txBody>
      </p:sp>
      <p:sp>
        <p:nvSpPr>
          <p:cNvPr id="68" name="Text 65"/>
          <p:cNvSpPr/>
          <p:nvPr/>
        </p:nvSpPr>
        <p:spPr>
          <a:xfrm>
            <a:off x="11205881" y="5752765"/>
            <a:ext cx="19556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6" spc="72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6" dirty="0"/>
          </a:p>
        </p:txBody>
      </p:sp>
      <p:sp>
        <p:nvSpPr>
          <p:cNvPr id="69" name="Text 66"/>
          <p:cNvSpPr/>
          <p:nvPr/>
        </p:nvSpPr>
        <p:spPr>
          <a:xfrm>
            <a:off x="11453134" y="5524165"/>
            <a:ext cx="914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买家的个</a:t>
            </a:r>
            <a:endParaRPr lang="en-US" sz="1620" dirty="0"/>
          </a:p>
        </p:txBody>
      </p:sp>
      <p:sp>
        <p:nvSpPr>
          <p:cNvPr id="70" name="Text 67"/>
          <p:cNvSpPr/>
          <p:nvPr/>
        </p:nvSpPr>
        <p:spPr>
          <a:xfrm>
            <a:off x="11453134" y="5821345"/>
            <a:ext cx="914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人隐私信</a:t>
            </a:r>
            <a:endParaRPr lang="en-US" sz="1620" dirty="0"/>
          </a:p>
        </p:txBody>
      </p:sp>
      <p:sp>
        <p:nvSpPr>
          <p:cNvPr id="71" name="Text 68"/>
          <p:cNvSpPr/>
          <p:nvPr/>
        </p:nvSpPr>
        <p:spPr>
          <a:xfrm>
            <a:off x="11453134" y="6118525"/>
            <a:ext cx="30723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息</a:t>
            </a:r>
            <a:endParaRPr lang="en-US" sz="1620" dirty="0"/>
          </a:p>
        </p:txBody>
      </p:sp>
      <p:sp>
        <p:nvSpPr>
          <p:cNvPr id="72" name="Text 69"/>
          <p:cNvSpPr/>
          <p:nvPr/>
        </p:nvSpPr>
        <p:spPr>
          <a:xfrm>
            <a:off x="12552243" y="5577474"/>
            <a:ext cx="10446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电话、地址、卡</a:t>
            </a:r>
            <a:endParaRPr lang="en-US" sz="990" dirty="0"/>
          </a:p>
        </p:txBody>
      </p:sp>
      <p:sp>
        <p:nvSpPr>
          <p:cNvPr id="73" name="Text 70"/>
          <p:cNvSpPr/>
          <p:nvPr/>
        </p:nvSpPr>
        <p:spPr>
          <a:xfrm>
            <a:off x="12552243" y="5745084"/>
            <a:ext cx="104464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90" spc="6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号不脱敏就违法</a:t>
            </a:r>
            <a:endParaRPr lang="en-US" sz="990" dirty="0"/>
          </a:p>
        </p:txBody>
      </p:sp>
      <p:sp>
        <p:nvSpPr>
          <p:cNvPr id="74" name="Text 71"/>
          <p:cNvSpPr/>
          <p:nvPr/>
        </p:nvSpPr>
        <p:spPr>
          <a:xfrm>
            <a:off x="10688970" y="6461425"/>
            <a:ext cx="265176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自动识别并脱敏手机号、身份证、卡</a:t>
            </a:r>
            <a:endParaRPr lang="en-US" sz="1260" dirty="0"/>
          </a:p>
        </p:txBody>
      </p:sp>
      <p:sp>
        <p:nvSpPr>
          <p:cNvPr id="75" name="Text 72"/>
          <p:cNvSpPr/>
          <p:nvPr/>
        </p:nvSpPr>
        <p:spPr>
          <a:xfrm>
            <a:off x="10688970" y="6693317"/>
            <a:ext cx="206608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号，严格遵守 GDPR 合规。</a:t>
            </a:r>
            <a:endParaRPr lang="en-US" sz="1260" dirty="0"/>
          </a:p>
        </p:txBody>
      </p:sp>
      <p:sp>
        <p:nvSpPr>
          <p:cNvPr id="76" name="Shape 73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治理完成</a:t>
            </a:r>
            <a:endParaRPr lang="en-US" sz="1584" dirty="0"/>
          </a:p>
        </p:txBody>
      </p:sp>
      <p:sp>
        <p:nvSpPr>
          <p:cNvPr id="79" name="Text 76"/>
          <p:cNvSpPr/>
          <p:nvPr/>
        </p:nvSpPr>
        <p:spPr>
          <a:xfrm>
            <a:off x="1826971" y="7275424"/>
            <a:ext cx="2651760" cy="2593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数据洗干净了，检索质量才能上去。</a:t>
            </a:r>
            <a:endParaRPr lang="en-US" sz="1260" dirty="0"/>
          </a:p>
        </p:txBody>
      </p:sp>
      <p:pic>
        <p:nvPicPr>
          <p:cNvPr id="8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350" y="914400"/>
            <a:ext cx="990570" cy="9905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0190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怎么考试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001969" y="720090"/>
            <a:ext cx="304298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别凭感觉，把评测拆成三个维度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6127577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Triad：三维度质量评估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7102876" y="1600200"/>
            <a:ext cx="265176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分开考检索和生成，各打各的分</a:t>
            </a:r>
            <a:endParaRPr lang="en-US" sz="14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58005"/>
            <a:ext cx="7176394" cy="512100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61633" y="6040435"/>
            <a:ext cx="460858" cy="143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萌芽期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1326612" y="6178418"/>
            <a:ext cx="656356" cy="154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92" spc="72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lang="en-US" sz="792" dirty="0"/>
          </a:p>
        </p:txBody>
      </p:sp>
      <p:sp>
        <p:nvSpPr>
          <p:cNvPr id="14" name="Text 11"/>
          <p:cNvSpPr/>
          <p:nvPr/>
        </p:nvSpPr>
        <p:spPr>
          <a:xfrm>
            <a:off x="2456810" y="6028822"/>
            <a:ext cx="694944" cy="154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期望膨胀期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2629814" y="6178418"/>
            <a:ext cx="415229" cy="154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92" spc="72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</a:t>
            </a:r>
            <a:endParaRPr lang="en-US" sz="792" dirty="0"/>
          </a:p>
        </p:txBody>
      </p:sp>
      <p:sp>
        <p:nvSpPr>
          <p:cNvPr id="16" name="Text 13"/>
          <p:cNvSpPr/>
          <p:nvPr/>
        </p:nvSpPr>
        <p:spPr>
          <a:xfrm>
            <a:off x="3753246" y="6028822"/>
            <a:ext cx="694944" cy="154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泡沫低谷期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3857305" y="6178418"/>
            <a:ext cx="575981" cy="154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92" spc="72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TROUGH</a:t>
            </a:r>
            <a:endParaRPr lang="en-US" sz="792" dirty="0"/>
          </a:p>
        </p:txBody>
      </p:sp>
      <p:sp>
        <p:nvSpPr>
          <p:cNvPr id="18" name="Text 15"/>
          <p:cNvSpPr/>
          <p:nvPr/>
        </p:nvSpPr>
        <p:spPr>
          <a:xfrm>
            <a:off x="4958883" y="6028822"/>
            <a:ext cx="694944" cy="154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稳步爨升期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5103175" y="6178418"/>
            <a:ext cx="495605" cy="154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92" spc="72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</a:t>
            </a:r>
            <a:endParaRPr lang="en-US" sz="792" dirty="0"/>
          </a:p>
        </p:txBody>
      </p:sp>
      <p:sp>
        <p:nvSpPr>
          <p:cNvPr id="20" name="Text 17"/>
          <p:cNvSpPr/>
          <p:nvPr/>
        </p:nvSpPr>
        <p:spPr>
          <a:xfrm>
            <a:off x="6661038" y="6028822"/>
            <a:ext cx="694944" cy="154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生产成熟期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6736476" y="6178418"/>
            <a:ext cx="656356" cy="154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92" spc="72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</a:t>
            </a:r>
            <a:endParaRPr lang="en-US" sz="792" dirty="0"/>
          </a:p>
        </p:txBody>
      </p:sp>
      <p:sp>
        <p:nvSpPr>
          <p:cNvPr id="22" name="Text 19"/>
          <p:cNvSpPr/>
          <p:nvPr/>
        </p:nvSpPr>
        <p:spPr>
          <a:xfrm>
            <a:off x="1135228" y="2702875"/>
            <a:ext cx="580164" cy="166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78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评测维度</a:t>
            </a:r>
            <a:endParaRPr lang="en-US" sz="858" dirty="0"/>
          </a:p>
        </p:txBody>
      </p:sp>
      <p:sp>
        <p:nvSpPr>
          <p:cNvPr id="23" name="Text 20"/>
          <p:cNvSpPr/>
          <p:nvPr/>
        </p:nvSpPr>
        <p:spPr>
          <a:xfrm>
            <a:off x="1928470" y="2619573"/>
            <a:ext cx="1338682" cy="189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搜到的资料相关吗</a:t>
            </a:r>
            <a:endParaRPr lang="en-US" sz="1260" dirty="0"/>
          </a:p>
        </p:txBody>
      </p:sp>
      <p:sp>
        <p:nvSpPr>
          <p:cNvPr id="24" name="Text 21"/>
          <p:cNvSpPr/>
          <p:nvPr/>
        </p:nvSpPr>
        <p:spPr>
          <a:xfrm>
            <a:off x="2425355" y="2773832"/>
            <a:ext cx="309136" cy="166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</a:t>
            </a:r>
            <a:endParaRPr lang="en-US" sz="858" dirty="0"/>
          </a:p>
        </p:txBody>
      </p:sp>
      <p:sp>
        <p:nvSpPr>
          <p:cNvPr id="25" name="Text 22"/>
          <p:cNvSpPr/>
          <p:nvPr/>
        </p:nvSpPr>
        <p:spPr>
          <a:xfrm>
            <a:off x="2672060" y="5208148"/>
            <a:ext cx="1338682" cy="212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回答有没有瞎编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3141787" y="5385633"/>
            <a:ext cx="378874" cy="166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858" dirty="0"/>
          </a:p>
        </p:txBody>
      </p:sp>
      <p:sp>
        <p:nvSpPr>
          <p:cNvPr id="27" name="Text 24"/>
          <p:cNvSpPr/>
          <p:nvPr/>
        </p:nvSpPr>
        <p:spPr>
          <a:xfrm>
            <a:off x="4130985" y="4968210"/>
            <a:ext cx="1185062" cy="189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有没有答到点上</a:t>
            </a:r>
            <a:endParaRPr lang="en-US" sz="1260" dirty="0"/>
          </a:p>
        </p:txBody>
      </p:sp>
      <p:sp>
        <p:nvSpPr>
          <p:cNvPr id="28" name="Text 25"/>
          <p:cNvSpPr/>
          <p:nvPr/>
        </p:nvSpPr>
        <p:spPr>
          <a:xfrm>
            <a:off x="4555541" y="5122469"/>
            <a:ext cx="309136" cy="166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</a:t>
            </a:r>
            <a:endParaRPr lang="en-US" sz="858" dirty="0"/>
          </a:p>
        </p:txBody>
      </p:sp>
      <p:sp>
        <p:nvSpPr>
          <p:cNvPr id="29" name="Shape 26"/>
          <p:cNvSpPr/>
          <p:nvPr/>
        </p:nvSpPr>
        <p:spPr>
          <a:xfrm>
            <a:off x="8426013" y="1958005"/>
            <a:ext cx="5289987" cy="512100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426013" y="1958005"/>
            <a:ext cx="11593" cy="512100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62294" y="1958005"/>
            <a:ext cx="5053706" cy="727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662294" y="2674091"/>
            <a:ext cx="5053706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62294" y="2072305"/>
            <a:ext cx="324307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20" dirty="0"/>
          </a:p>
        </p:txBody>
      </p:sp>
      <p:sp>
        <p:nvSpPr>
          <p:cNvPr id="34" name="Text 31"/>
          <p:cNvSpPr/>
          <p:nvPr/>
        </p:nvSpPr>
        <p:spPr>
          <a:xfrm>
            <a:off x="9012784" y="2125614"/>
            <a:ext cx="149349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搜到的资料相关吗</a:t>
            </a:r>
            <a:endParaRPr lang="en-US" sz="1380" dirty="0"/>
          </a:p>
        </p:txBody>
      </p:sp>
      <p:sp>
        <p:nvSpPr>
          <p:cNvPr id="35" name="Shape 32"/>
          <p:cNvSpPr/>
          <p:nvPr/>
        </p:nvSpPr>
        <p:spPr>
          <a:xfrm>
            <a:off x="10491094" y="2140885"/>
            <a:ext cx="655350" cy="198150"/>
          </a:xfrm>
          <a:prstGeom prst="rect">
            <a:avLst/>
          </a:prstGeom>
          <a:solidFill>
            <a:srgbClr val="F3F2EE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551993" y="2140885"/>
            <a:ext cx="63276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考检索能力</a:t>
            </a:r>
            <a:endParaRPr lang="en-US" sz="858" dirty="0"/>
          </a:p>
        </p:txBody>
      </p:sp>
      <p:sp>
        <p:nvSpPr>
          <p:cNvPr id="37" name="Text 34"/>
          <p:cNvSpPr/>
          <p:nvPr/>
        </p:nvSpPr>
        <p:spPr>
          <a:xfrm>
            <a:off x="9012784" y="2377074"/>
            <a:ext cx="2358420" cy="214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搜回来的段落跟用户问的问题是否对口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662294" y="2685684"/>
            <a:ext cx="5053706" cy="727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662294" y="3401771"/>
            <a:ext cx="5053706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662294" y="2799984"/>
            <a:ext cx="324307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20" dirty="0"/>
          </a:p>
        </p:txBody>
      </p:sp>
      <p:sp>
        <p:nvSpPr>
          <p:cNvPr id="41" name="Text 38"/>
          <p:cNvSpPr/>
          <p:nvPr/>
        </p:nvSpPr>
        <p:spPr>
          <a:xfrm>
            <a:off x="9012784" y="2853294"/>
            <a:ext cx="131829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回答有没有瞎编</a:t>
            </a:r>
            <a:endParaRPr lang="en-US" sz="1380" dirty="0"/>
          </a:p>
        </p:txBody>
      </p:sp>
      <p:sp>
        <p:nvSpPr>
          <p:cNvPr id="42" name="Shape 39"/>
          <p:cNvSpPr/>
          <p:nvPr/>
        </p:nvSpPr>
        <p:spPr>
          <a:xfrm>
            <a:off x="10315804" y="2868564"/>
            <a:ext cx="655350" cy="1981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376794" y="2868564"/>
            <a:ext cx="63276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D1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考生成质量</a:t>
            </a:r>
            <a:endParaRPr lang="en-US" sz="858" dirty="0"/>
          </a:p>
        </p:txBody>
      </p:sp>
      <p:sp>
        <p:nvSpPr>
          <p:cNvPr id="44" name="Text 41"/>
          <p:cNvSpPr/>
          <p:nvPr/>
        </p:nvSpPr>
        <p:spPr>
          <a:xfrm>
            <a:off x="9012784" y="3104754"/>
            <a:ext cx="2625060" cy="214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每句话都必须有搜到的资料做依据，不许编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8662294" y="3527664"/>
            <a:ext cx="324307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20" dirty="0"/>
          </a:p>
        </p:txBody>
      </p:sp>
      <p:sp>
        <p:nvSpPr>
          <p:cNvPr id="46" name="Text 43"/>
          <p:cNvSpPr/>
          <p:nvPr/>
        </p:nvSpPr>
        <p:spPr>
          <a:xfrm>
            <a:off x="9012784" y="3581065"/>
            <a:ext cx="131829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有没有答到点上</a:t>
            </a:r>
            <a:endParaRPr lang="en-US" sz="1380" dirty="0"/>
          </a:p>
        </p:txBody>
      </p:sp>
      <p:sp>
        <p:nvSpPr>
          <p:cNvPr id="47" name="Shape 44"/>
          <p:cNvSpPr/>
          <p:nvPr/>
        </p:nvSpPr>
        <p:spPr>
          <a:xfrm>
            <a:off x="10315804" y="3596244"/>
            <a:ext cx="548640" cy="198150"/>
          </a:xfrm>
          <a:prstGeom prst="rect">
            <a:avLst/>
          </a:prstGeom>
          <a:solidFill>
            <a:srgbClr val="F3F2EE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376794" y="3596244"/>
            <a:ext cx="52815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考端到端</a:t>
            </a:r>
            <a:endParaRPr lang="en-US" sz="858" dirty="0"/>
          </a:p>
        </p:txBody>
      </p:sp>
      <p:sp>
        <p:nvSpPr>
          <p:cNvPr id="49" name="Text 46"/>
          <p:cNvSpPr/>
          <p:nvPr/>
        </p:nvSpPr>
        <p:spPr>
          <a:xfrm>
            <a:off x="9012784" y="3832525"/>
            <a:ext cx="2358420" cy="214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回答是不是真的在解决用户提出的问题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评测口诀</a:t>
            </a:r>
            <a:endParaRPr lang="en-US" sz="1584" dirty="0"/>
          </a:p>
        </p:txBody>
      </p:sp>
      <p:sp>
        <p:nvSpPr>
          <p:cNvPr id="53" name="Text 50"/>
          <p:cNvSpPr/>
          <p:nvPr/>
        </p:nvSpPr>
        <p:spPr>
          <a:xfrm>
            <a:off x="1826971" y="7275424"/>
            <a:ext cx="10083912" cy="259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不拆开评测就是蒙眼猜第 1 项：搜到的资料对不对第 2 项：回答有没有瞎编第 3 项：是不是在回答用户的问题忠实度必须 100%，否则不许上线</a:t>
            </a:r>
            <a:endParaRPr lang="en-US" sz="1260" dirty="0"/>
          </a:p>
        </p:txBody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0" y="761970"/>
            <a:ext cx="883950" cy="883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0190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上线把关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602547" y="720090"/>
            <a:ext cx="235124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自动化测试 + 发布门禁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3748217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500道真实测试题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4723608" y="1600200"/>
            <a:ext cx="3838651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每次改代码改 Prompt，自动跑一遍全部测试题</a:t>
            </a:r>
            <a:endParaRPr lang="en-US" sz="144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64807"/>
            <a:ext cx="5486400" cy="481587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350" y="3756447"/>
            <a:ext cx="1432590" cy="14325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4210" y="3906728"/>
            <a:ext cx="138687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20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改完必须自</a:t>
            </a:r>
            <a:endParaRPr lang="en-US" sz="2040" dirty="0"/>
          </a:p>
        </p:txBody>
      </p:sp>
      <p:sp>
        <p:nvSpPr>
          <p:cNvPr id="14" name="Text 10"/>
          <p:cNvSpPr/>
          <p:nvPr/>
        </p:nvSpPr>
        <p:spPr>
          <a:xfrm>
            <a:off x="2964210" y="4165778"/>
            <a:ext cx="138687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20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动验证才能</a:t>
            </a:r>
            <a:endParaRPr lang="en-US" sz="2040" dirty="0"/>
          </a:p>
        </p:txBody>
      </p:sp>
      <p:sp>
        <p:nvSpPr>
          <p:cNvPr id="15" name="Text 11"/>
          <p:cNvSpPr/>
          <p:nvPr/>
        </p:nvSpPr>
        <p:spPr>
          <a:xfrm>
            <a:off x="3352830" y="4424827"/>
            <a:ext cx="60963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20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</a:t>
            </a:r>
            <a:endParaRPr lang="en-US" sz="2040" dirty="0"/>
          </a:p>
        </p:txBody>
      </p:sp>
      <p:sp>
        <p:nvSpPr>
          <p:cNvPr id="16" name="Text 12"/>
          <p:cNvSpPr/>
          <p:nvPr/>
        </p:nvSpPr>
        <p:spPr>
          <a:xfrm>
            <a:off x="3039786" y="4758446"/>
            <a:ext cx="1235629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24" spc="63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测试集覆盖边界场景</a:t>
            </a:r>
            <a:endParaRPr lang="en-US" sz="924" dirty="0"/>
          </a:p>
        </p:txBody>
      </p:sp>
      <p:sp>
        <p:nvSpPr>
          <p:cNvPr id="17" name="Shape 13"/>
          <p:cNvSpPr/>
          <p:nvPr/>
        </p:nvSpPr>
        <p:spPr>
          <a:xfrm>
            <a:off x="3215670" y="2262866"/>
            <a:ext cx="883950" cy="883950"/>
          </a:xfrm>
          <a:prstGeom prst="ellipse">
            <a:avLst/>
          </a:prstGeom>
          <a:solidFill>
            <a:srgbClr val="211F1C"/>
          </a:solidFill>
          <a:ln w="19050">
            <a:solidFill>
              <a:srgbClr val="F3F2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26451" y="2437790"/>
            <a:ext cx="262206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58"/>
              </a:lnSpc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8" dirty="0"/>
          </a:p>
        </p:txBody>
      </p:sp>
      <p:sp>
        <p:nvSpPr>
          <p:cNvPr id="19" name="Text 15"/>
          <p:cNvSpPr/>
          <p:nvPr/>
        </p:nvSpPr>
        <p:spPr>
          <a:xfrm>
            <a:off x="3224449" y="2605400"/>
            <a:ext cx="866211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 500+</a:t>
            </a:r>
            <a:endParaRPr lang="en-US" sz="1260" dirty="0"/>
          </a:p>
        </p:txBody>
      </p:sp>
      <p:sp>
        <p:nvSpPr>
          <p:cNvPr id="20" name="Text 16"/>
          <p:cNvSpPr/>
          <p:nvPr/>
        </p:nvSpPr>
        <p:spPr>
          <a:xfrm>
            <a:off x="3371850" y="2773467"/>
            <a:ext cx="57150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测试题</a:t>
            </a:r>
            <a:endParaRPr lang="en-US" sz="1260" dirty="0"/>
          </a:p>
        </p:txBody>
      </p:sp>
      <p:sp>
        <p:nvSpPr>
          <p:cNvPr id="21" name="Shape 17"/>
          <p:cNvSpPr/>
          <p:nvPr/>
        </p:nvSpPr>
        <p:spPr>
          <a:xfrm>
            <a:off x="4983480" y="4030767"/>
            <a:ext cx="883950" cy="883950"/>
          </a:xfrm>
          <a:prstGeom prst="ellipse">
            <a:avLst/>
          </a:prstGeom>
          <a:solidFill>
            <a:srgbClr val="211F1C"/>
          </a:solidFill>
          <a:ln w="19050">
            <a:solidFill>
              <a:srgbClr val="F3F2E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94261" y="4205600"/>
            <a:ext cx="262206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58"/>
              </a:lnSpc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8" dirty="0"/>
          </a:p>
        </p:txBody>
      </p:sp>
      <p:sp>
        <p:nvSpPr>
          <p:cNvPr id="23" name="Text 19"/>
          <p:cNvSpPr/>
          <p:nvPr/>
        </p:nvSpPr>
        <p:spPr>
          <a:xfrm>
            <a:off x="4979640" y="4373301"/>
            <a:ext cx="89154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用大模型自</a:t>
            </a:r>
            <a:endParaRPr lang="en-US" sz="1260" dirty="0"/>
          </a:p>
        </p:txBody>
      </p:sp>
      <p:sp>
        <p:nvSpPr>
          <p:cNvPr id="24" name="Text 20"/>
          <p:cNvSpPr/>
          <p:nvPr/>
        </p:nvSpPr>
        <p:spPr>
          <a:xfrm>
            <a:off x="5139660" y="4541276"/>
            <a:ext cx="57150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动打分</a:t>
            </a:r>
            <a:endParaRPr lang="en-US" sz="1260" dirty="0"/>
          </a:p>
        </p:txBody>
      </p:sp>
      <p:sp>
        <p:nvSpPr>
          <p:cNvPr id="25" name="Shape 21"/>
          <p:cNvSpPr/>
          <p:nvPr/>
        </p:nvSpPr>
        <p:spPr>
          <a:xfrm>
            <a:off x="3215670" y="5798576"/>
            <a:ext cx="883950" cy="883950"/>
          </a:xfrm>
          <a:prstGeom prst="ellipse">
            <a:avLst/>
          </a:prstGeom>
          <a:solidFill>
            <a:srgbClr val="211F1C"/>
          </a:solidFill>
          <a:ln w="19050">
            <a:solidFill>
              <a:srgbClr val="F3F2E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26451" y="5973501"/>
            <a:ext cx="262206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58"/>
              </a:lnSpc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8" dirty="0"/>
          </a:p>
        </p:txBody>
      </p:sp>
      <p:sp>
        <p:nvSpPr>
          <p:cNvPr id="27" name="Text 23"/>
          <p:cNvSpPr/>
          <p:nvPr/>
        </p:nvSpPr>
        <p:spPr>
          <a:xfrm>
            <a:off x="3211830" y="6141110"/>
            <a:ext cx="89154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没过就不许</a:t>
            </a:r>
            <a:endParaRPr lang="en-US" sz="1260" dirty="0"/>
          </a:p>
        </p:txBody>
      </p:sp>
      <p:sp>
        <p:nvSpPr>
          <p:cNvPr id="28" name="Text 24"/>
          <p:cNvSpPr/>
          <p:nvPr/>
        </p:nvSpPr>
        <p:spPr>
          <a:xfrm>
            <a:off x="3449117" y="6309086"/>
            <a:ext cx="416966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1260" dirty="0"/>
          </a:p>
        </p:txBody>
      </p:sp>
      <p:sp>
        <p:nvSpPr>
          <p:cNvPr id="29" name="Shape 25"/>
          <p:cNvSpPr/>
          <p:nvPr/>
        </p:nvSpPr>
        <p:spPr>
          <a:xfrm>
            <a:off x="1447770" y="4030767"/>
            <a:ext cx="883950" cy="883950"/>
          </a:xfrm>
          <a:prstGeom prst="ellipse">
            <a:avLst/>
          </a:prstGeom>
          <a:solidFill>
            <a:srgbClr val="211F1C"/>
          </a:solidFill>
          <a:ln w="19050">
            <a:solidFill>
              <a:srgbClr val="F3F2E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758550" y="4205600"/>
            <a:ext cx="262206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58"/>
              </a:lnSpc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8" dirty="0"/>
          </a:p>
        </p:txBody>
      </p:sp>
      <p:sp>
        <p:nvSpPr>
          <p:cNvPr id="31" name="Text 27"/>
          <p:cNvSpPr/>
          <p:nvPr/>
        </p:nvSpPr>
        <p:spPr>
          <a:xfrm>
            <a:off x="1500530" y="4373301"/>
            <a:ext cx="77833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Bad</a:t>
            </a:r>
            <a:endParaRPr lang="en-US" sz="1260" dirty="0"/>
          </a:p>
        </p:txBody>
      </p:sp>
      <p:sp>
        <p:nvSpPr>
          <p:cNvPr id="32" name="Text 28"/>
          <p:cNvSpPr/>
          <p:nvPr/>
        </p:nvSpPr>
        <p:spPr>
          <a:xfrm>
            <a:off x="1451701" y="4541276"/>
            <a:ext cx="876087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126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反哺</a:t>
            </a:r>
            <a:endParaRPr lang="en-US" sz="1260" dirty="0"/>
          </a:p>
        </p:txBody>
      </p:sp>
      <p:sp>
        <p:nvSpPr>
          <p:cNvPr id="33" name="Shape 29"/>
          <p:cNvSpPr/>
          <p:nvPr/>
        </p:nvSpPr>
        <p:spPr>
          <a:xfrm>
            <a:off x="6705570" y="3111795"/>
            <a:ext cx="7010430" cy="272180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705570" y="3111795"/>
            <a:ext cx="11593" cy="272180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018020" y="3111795"/>
            <a:ext cx="6697980" cy="68232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018020" y="3782527"/>
            <a:ext cx="669798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018020" y="3203235"/>
            <a:ext cx="259050" cy="2590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110192" y="3203235"/>
            <a:ext cx="19556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6" b="1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6" dirty="0"/>
          </a:p>
        </p:txBody>
      </p:sp>
      <p:sp>
        <p:nvSpPr>
          <p:cNvPr id="39" name="Text 35"/>
          <p:cNvSpPr/>
          <p:nvPr/>
        </p:nvSpPr>
        <p:spPr>
          <a:xfrm>
            <a:off x="7399050" y="3256636"/>
            <a:ext cx="155630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 500+ 测试题</a:t>
            </a:r>
            <a:endParaRPr lang="en-US" sz="1440" dirty="0"/>
          </a:p>
        </p:txBody>
      </p:sp>
      <p:sp>
        <p:nvSpPr>
          <p:cNvPr id="40" name="Text 36"/>
          <p:cNvSpPr/>
          <p:nvPr/>
        </p:nvSpPr>
        <p:spPr>
          <a:xfrm>
            <a:off x="8920429" y="3302356"/>
            <a:ext cx="122021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 DATASET</a:t>
            </a:r>
            <a:endParaRPr lang="en-US" sz="858" dirty="0"/>
          </a:p>
        </p:txBody>
      </p:sp>
      <p:sp>
        <p:nvSpPr>
          <p:cNvPr id="41" name="Text 37"/>
          <p:cNvSpPr/>
          <p:nvPr/>
        </p:nvSpPr>
        <p:spPr>
          <a:xfrm>
            <a:off x="7399050" y="3485236"/>
            <a:ext cx="380088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覆盖多站点、多品类、危险品等真实边界场景的标准答案。</a:t>
            </a:r>
            <a:endParaRPr lang="en-US" sz="1140" dirty="0"/>
          </a:p>
        </p:txBody>
      </p:sp>
      <p:sp>
        <p:nvSpPr>
          <p:cNvPr id="42" name="Shape 38"/>
          <p:cNvSpPr/>
          <p:nvPr/>
        </p:nvSpPr>
        <p:spPr>
          <a:xfrm>
            <a:off x="7018020" y="3794120"/>
            <a:ext cx="6697980" cy="68232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018020" y="4464852"/>
            <a:ext cx="669798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018020" y="3885560"/>
            <a:ext cx="259050" cy="2590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110192" y="3885560"/>
            <a:ext cx="19556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6" b="1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6" dirty="0"/>
          </a:p>
        </p:txBody>
      </p:sp>
      <p:sp>
        <p:nvSpPr>
          <p:cNvPr id="46" name="Text 42"/>
          <p:cNvSpPr/>
          <p:nvPr/>
        </p:nvSpPr>
        <p:spPr>
          <a:xfrm>
            <a:off x="7399050" y="3938961"/>
            <a:ext cx="15544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用大模型自动打分</a:t>
            </a:r>
            <a:endParaRPr lang="en-US" sz="1440" dirty="0"/>
          </a:p>
        </p:txBody>
      </p:sp>
      <p:sp>
        <p:nvSpPr>
          <p:cNvPr id="47" name="Text 43"/>
          <p:cNvSpPr/>
          <p:nvPr/>
        </p:nvSpPr>
        <p:spPr>
          <a:xfrm>
            <a:off x="8938260" y="3984681"/>
            <a:ext cx="1225664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LLM-AS-A-JUDGE</a:t>
            </a:r>
            <a:endParaRPr lang="en-US" sz="858" dirty="0"/>
          </a:p>
        </p:txBody>
      </p:sp>
      <p:sp>
        <p:nvSpPr>
          <p:cNvPr id="48" name="Text 44"/>
          <p:cNvSpPr/>
          <p:nvPr/>
        </p:nvSpPr>
        <p:spPr>
          <a:xfrm>
            <a:off x="7399050" y="4167561"/>
            <a:ext cx="3804453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让高阶大模型按 RAG Triad 三个维度给每次提交自动打分。</a:t>
            </a:r>
            <a:endParaRPr lang="en-US" sz="1140" dirty="0"/>
          </a:p>
        </p:txBody>
      </p:sp>
      <p:sp>
        <p:nvSpPr>
          <p:cNvPr id="49" name="Shape 45"/>
          <p:cNvSpPr/>
          <p:nvPr/>
        </p:nvSpPr>
        <p:spPr>
          <a:xfrm>
            <a:off x="7018020" y="4476537"/>
            <a:ext cx="6697980" cy="68232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018020" y="5147269"/>
            <a:ext cx="669798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018020" y="4567977"/>
            <a:ext cx="259050" cy="2590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110192" y="4567977"/>
            <a:ext cx="19556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6" b="1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6" dirty="0"/>
          </a:p>
        </p:txBody>
      </p:sp>
      <p:sp>
        <p:nvSpPr>
          <p:cNvPr id="53" name="Text 49"/>
          <p:cNvSpPr/>
          <p:nvPr/>
        </p:nvSpPr>
        <p:spPr>
          <a:xfrm>
            <a:off x="7399050" y="4621286"/>
            <a:ext cx="13716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没过就不许发布</a:t>
            </a:r>
            <a:endParaRPr lang="en-US" sz="1440" dirty="0"/>
          </a:p>
        </p:txBody>
      </p:sp>
      <p:sp>
        <p:nvSpPr>
          <p:cNvPr id="54" name="Text 50"/>
          <p:cNvSpPr/>
          <p:nvPr/>
        </p:nvSpPr>
        <p:spPr>
          <a:xfrm>
            <a:off x="8755380" y="4667006"/>
            <a:ext cx="783707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 门禁</a:t>
            </a:r>
            <a:endParaRPr lang="en-US" sz="858" dirty="0"/>
          </a:p>
        </p:txBody>
      </p:sp>
      <p:sp>
        <p:nvSpPr>
          <p:cNvPr id="55" name="Text 51"/>
          <p:cNvSpPr/>
          <p:nvPr/>
        </p:nvSpPr>
        <p:spPr>
          <a:xfrm>
            <a:off x="7399050" y="4849886"/>
            <a:ext cx="3516417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忠实度不到 100% 或总分不达标，自动拦住不让部署。</a:t>
            </a:r>
            <a:endParaRPr lang="en-US" sz="1140" dirty="0"/>
          </a:p>
        </p:txBody>
      </p:sp>
      <p:sp>
        <p:nvSpPr>
          <p:cNvPr id="56" name="Shape 52"/>
          <p:cNvSpPr/>
          <p:nvPr/>
        </p:nvSpPr>
        <p:spPr>
          <a:xfrm>
            <a:off x="7018020" y="5250302"/>
            <a:ext cx="259050" cy="2590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7110192" y="5250302"/>
            <a:ext cx="19556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6" b="1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6" dirty="0"/>
          </a:p>
        </p:txBody>
      </p:sp>
      <p:sp>
        <p:nvSpPr>
          <p:cNvPr id="58" name="Text 54"/>
          <p:cNvSpPr/>
          <p:nvPr/>
        </p:nvSpPr>
        <p:spPr>
          <a:xfrm>
            <a:off x="7399050" y="5303611"/>
            <a:ext cx="176067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Bad Case 反哺</a:t>
            </a:r>
            <a:endParaRPr lang="en-US" sz="1440" dirty="0"/>
          </a:p>
        </p:txBody>
      </p:sp>
      <p:sp>
        <p:nvSpPr>
          <p:cNvPr id="59" name="Text 55"/>
          <p:cNvSpPr/>
          <p:nvPr/>
        </p:nvSpPr>
        <p:spPr>
          <a:xfrm>
            <a:off x="9144457" y="5349331"/>
            <a:ext cx="567162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8" spc="5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数据飞轮</a:t>
            </a:r>
            <a:endParaRPr lang="en-US" sz="858" dirty="0"/>
          </a:p>
        </p:txBody>
      </p:sp>
      <p:sp>
        <p:nvSpPr>
          <p:cNvPr id="60" name="Text 56"/>
          <p:cNvSpPr/>
          <p:nvPr/>
        </p:nvSpPr>
        <p:spPr>
          <a:xfrm>
            <a:off x="7399050" y="5532211"/>
            <a:ext cx="3985047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OpenTelemetry 追踪线上请求，抓到错误的就加进测试集。</a:t>
            </a:r>
            <a:endParaRPr lang="en-US" sz="1140" dirty="0"/>
          </a:p>
        </p:txBody>
      </p:sp>
      <p:sp>
        <p:nvSpPr>
          <p:cNvPr id="61" name="Shape 57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914400" y="7254210"/>
            <a:ext cx="215812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忠实度 100% 才放行</a:t>
            </a:r>
            <a:endParaRPr lang="en-US" sz="1584" dirty="0"/>
          </a:p>
        </p:txBody>
      </p:sp>
      <p:sp>
        <p:nvSpPr>
          <p:cNvPr id="64" name="Text 60"/>
          <p:cNvSpPr/>
          <p:nvPr/>
        </p:nvSpPr>
        <p:spPr>
          <a:xfrm>
            <a:off x="2952140" y="7275424"/>
            <a:ext cx="2011680" cy="2593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没跑过测试就不许发布上线</a:t>
            </a:r>
            <a:endParaRPr lang="en-US" sz="1260" dirty="0"/>
          </a:p>
        </p:txBody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0690" y="8382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59244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535976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总览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2940589" y="72009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三道防线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03649"/>
            <a:ext cx="4745004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用工程手段管住大模型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5567964" y="1403649"/>
            <a:ext cx="1952884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完整架构</a:t>
            </a:r>
            <a:endParaRPr lang="en-US" sz="372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6710" y="960120"/>
            <a:ext cx="1417320" cy="1417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9710" y="2213212"/>
            <a:ext cx="100705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5520" b="1" spc="-138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520" dirty="0"/>
          </a:p>
        </p:txBody>
      </p:sp>
      <p:sp>
        <p:nvSpPr>
          <p:cNvPr id="13" name="Text 10"/>
          <p:cNvSpPr/>
          <p:nvPr/>
        </p:nvSpPr>
        <p:spPr>
          <a:xfrm>
            <a:off x="1249710" y="3015600"/>
            <a:ext cx="684817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第一道</a:t>
            </a:r>
            <a:endParaRPr lang="en-US" sz="1452" dirty="0"/>
          </a:p>
        </p:txBody>
      </p:sp>
      <p:sp>
        <p:nvSpPr>
          <p:cNvPr id="14" name="Text 11"/>
          <p:cNvSpPr/>
          <p:nvPr/>
        </p:nvSpPr>
        <p:spPr>
          <a:xfrm>
            <a:off x="1249710" y="3299657"/>
            <a:ext cx="3078510" cy="857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6000" b="1" spc="-15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9710" y="4198376"/>
            <a:ext cx="368292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先把资料洗干净打好标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49710" y="4608210"/>
            <a:ext cx="332183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MinerU 解析版面、给表格补表头、给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1249710" y="4873386"/>
            <a:ext cx="301752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文档打元数据标签、隐私信息脱敏。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1249710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76510" y="2018904"/>
            <a:ext cx="4269791" cy="5128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76510" y="2018904"/>
            <a:ext cx="11593" cy="512859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19410" y="2213212"/>
            <a:ext cx="100705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5520" b="1" spc="-138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520" dirty="0"/>
          </a:p>
        </p:txBody>
      </p:sp>
      <p:sp>
        <p:nvSpPr>
          <p:cNvPr id="22" name="Text 19"/>
          <p:cNvSpPr/>
          <p:nvPr/>
        </p:nvSpPr>
        <p:spPr>
          <a:xfrm>
            <a:off x="5519410" y="3015600"/>
            <a:ext cx="684817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第二道</a:t>
            </a:r>
            <a:endParaRPr lang="en-US" sz="1452" dirty="0"/>
          </a:p>
        </p:txBody>
      </p:sp>
      <p:sp>
        <p:nvSpPr>
          <p:cNvPr id="23" name="Text 20"/>
          <p:cNvSpPr/>
          <p:nvPr/>
        </p:nvSpPr>
        <p:spPr>
          <a:xfrm>
            <a:off x="5519410" y="3299657"/>
            <a:ext cx="3078510" cy="857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6000" b="1" spc="-15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精准检索</a:t>
            </a:r>
            <a:endParaRPr lang="en-US" sz="6000" dirty="0"/>
          </a:p>
        </p:txBody>
      </p:sp>
      <p:sp>
        <p:nvSpPr>
          <p:cNvPr id="24" name="Text 21"/>
          <p:cNvSpPr/>
          <p:nvPr/>
        </p:nvSpPr>
        <p:spPr>
          <a:xfrm>
            <a:off x="5519410" y="4198376"/>
            <a:ext cx="368311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 + 混合检索 + 重排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519410" y="4608210"/>
            <a:ext cx="336362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元数据过滤锁定范围，BM25 抓住专有编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5519410" y="4873386"/>
            <a:ext cx="318942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码，Cross-Encoder 精挑最准的段落。</a:t>
            </a:r>
            <a:endParaRPr lang="en-US" sz="1440" dirty="0"/>
          </a:p>
        </p:txBody>
      </p:sp>
      <p:sp>
        <p:nvSpPr>
          <p:cNvPr id="27" name="Shape 24"/>
          <p:cNvSpPr/>
          <p:nvPr/>
        </p:nvSpPr>
        <p:spPr>
          <a:xfrm>
            <a:off x="5519410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46301" y="2018904"/>
            <a:ext cx="4269699" cy="5128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446301" y="2018904"/>
            <a:ext cx="11593" cy="512859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89201" y="2213212"/>
            <a:ext cx="100705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5520" b="1" spc="-138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520" dirty="0"/>
          </a:p>
        </p:txBody>
      </p:sp>
      <p:sp>
        <p:nvSpPr>
          <p:cNvPr id="31" name="Text 28"/>
          <p:cNvSpPr/>
          <p:nvPr/>
        </p:nvSpPr>
        <p:spPr>
          <a:xfrm>
            <a:off x="9789201" y="3015600"/>
            <a:ext cx="684817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第三道</a:t>
            </a:r>
            <a:endParaRPr lang="en-US" sz="1452" dirty="0"/>
          </a:p>
        </p:txBody>
      </p:sp>
      <p:sp>
        <p:nvSpPr>
          <p:cNvPr id="32" name="Text 29"/>
          <p:cNvSpPr/>
          <p:nvPr/>
        </p:nvSpPr>
        <p:spPr>
          <a:xfrm>
            <a:off x="9789201" y="3299657"/>
            <a:ext cx="3078510" cy="857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6000" b="1" spc="-15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质量把关</a:t>
            </a:r>
            <a:endParaRPr lang="en-US" sz="6000" dirty="0"/>
          </a:p>
        </p:txBody>
      </p:sp>
      <p:sp>
        <p:nvSpPr>
          <p:cNvPr id="33" name="Text 30"/>
          <p:cNvSpPr/>
          <p:nvPr/>
        </p:nvSpPr>
        <p:spPr>
          <a:xfrm>
            <a:off x="9789201" y="4198376"/>
            <a:ext cx="368292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1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500道测试题 + CI/CD 门禁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789201" y="4608210"/>
            <a:ext cx="298387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Triad 三维度打分，忠实度不到</a:t>
            </a:r>
            <a:endParaRPr lang="en-US" sz="1440" dirty="0"/>
          </a:p>
        </p:txBody>
      </p:sp>
      <p:sp>
        <p:nvSpPr>
          <p:cNvPr id="35" name="Text 32"/>
          <p:cNvSpPr/>
          <p:nvPr/>
        </p:nvSpPr>
        <p:spPr>
          <a:xfrm>
            <a:off x="9789201" y="4873386"/>
            <a:ext cx="316857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自动拦住，线上错误自动回流。</a:t>
            </a:r>
            <a:endParaRPr lang="en-US" sz="1440" dirty="0"/>
          </a:p>
        </p:txBody>
      </p:sp>
      <p:sp>
        <p:nvSpPr>
          <p:cNvPr id="36" name="Shape 33"/>
          <p:cNvSpPr/>
          <p:nvPr/>
        </p:nvSpPr>
        <p:spPr>
          <a:xfrm>
            <a:off x="9789201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14400" y="714759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4400" y="7277070"/>
            <a:ext cx="4301429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数据层管好资料，检索层搜准东西，评估层把住上线关</a:t>
            </a:r>
            <a:endParaRPr lang="en-US" sz="1452" dirty="0"/>
          </a:p>
        </p:txBody>
      </p:sp>
      <p:sp>
        <p:nvSpPr>
          <p:cNvPr id="39" name="Text 36"/>
          <p:cNvSpPr/>
          <p:nvPr/>
        </p:nvSpPr>
        <p:spPr>
          <a:xfrm>
            <a:off x="12649810" y="7277070"/>
            <a:ext cx="1281909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三层环环相扣</a:t>
            </a:r>
            <a:endParaRPr lang="en-US" sz="14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0190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课程总结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971233" y="720090"/>
            <a:ext cx="20398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四句话记住今天讲的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69166"/>
            <a:ext cx="3883457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 RAG</a:t>
            </a:r>
            <a:endParaRPr lang="en-US" sz="5520" dirty="0"/>
          </a:p>
        </p:txBody>
      </p:sp>
      <p:sp>
        <p:nvSpPr>
          <p:cNvPr id="10" name="Text 8"/>
          <p:cNvSpPr/>
          <p:nvPr/>
        </p:nvSpPr>
        <p:spPr>
          <a:xfrm>
            <a:off x="914400" y="2219248"/>
            <a:ext cx="283948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架构演进</a:t>
            </a:r>
            <a:endParaRPr lang="en-US" sz="5520" dirty="0"/>
          </a:p>
        </p:txBody>
      </p:sp>
      <p:sp>
        <p:nvSpPr>
          <p:cNvPr id="11" name="Text 9"/>
          <p:cNvSpPr/>
          <p:nvPr/>
        </p:nvSpPr>
        <p:spPr>
          <a:xfrm>
            <a:off x="914400" y="2969331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endParaRPr lang="en-US" sz="5520" dirty="0"/>
          </a:p>
        </p:txBody>
      </p:sp>
      <p:sp>
        <p:nvSpPr>
          <p:cNvPr id="12" name="Text 10"/>
          <p:cNvSpPr/>
          <p:nvPr/>
        </p:nvSpPr>
        <p:spPr>
          <a:xfrm>
            <a:off x="1601480" y="2969331"/>
            <a:ext cx="2152498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从入门</a:t>
            </a:r>
            <a:endParaRPr lang="en-US" sz="5520" dirty="0"/>
          </a:p>
        </p:txBody>
      </p:sp>
      <p:sp>
        <p:nvSpPr>
          <p:cNvPr id="13" name="Text 11"/>
          <p:cNvSpPr/>
          <p:nvPr/>
        </p:nvSpPr>
        <p:spPr>
          <a:xfrm>
            <a:off x="3662629" y="2969331"/>
            <a:ext cx="78272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endParaRPr lang="en-US" sz="5520" dirty="0"/>
          </a:p>
        </p:txBody>
      </p:sp>
      <p:sp>
        <p:nvSpPr>
          <p:cNvPr id="14" name="Text 12"/>
          <p:cNvSpPr/>
          <p:nvPr/>
        </p:nvSpPr>
        <p:spPr>
          <a:xfrm>
            <a:off x="4349709" y="2969331"/>
            <a:ext cx="1465509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274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</a:t>
            </a:r>
            <a:endParaRPr lang="en-US" sz="5520" dirty="0"/>
          </a:p>
        </p:txBody>
      </p:sp>
      <p:sp>
        <p:nvSpPr>
          <p:cNvPr id="15" name="Text 13"/>
          <p:cNvSpPr/>
          <p:nvPr/>
        </p:nvSpPr>
        <p:spPr>
          <a:xfrm>
            <a:off x="914400" y="3964747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搜到的资料不对，模型再聪明也白搭。元数据过滤管范围，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914400" y="4273357"/>
            <a:ext cx="5180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混合检索管编码，重排管精度，最后用自动化测试把住上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914400" y="4581967"/>
            <a:ext cx="7086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线关。</a:t>
            </a:r>
            <a:endParaRPr lang="en-US" sz="1620" dirty="0"/>
          </a:p>
        </p:txBody>
      </p:sp>
      <p:sp>
        <p:nvSpPr>
          <p:cNvPr id="18" name="Shape 16"/>
          <p:cNvSpPr/>
          <p:nvPr/>
        </p:nvSpPr>
        <p:spPr>
          <a:xfrm>
            <a:off x="914400" y="7124730"/>
            <a:ext cx="6413327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7269480"/>
            <a:ext cx="1543267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亚马逊欧洲实战</a:t>
            </a:r>
            <a:endParaRPr lang="en-US" sz="1518" dirty="0"/>
          </a:p>
        </p:txBody>
      </p:sp>
      <p:sp>
        <p:nvSpPr>
          <p:cNvPr id="20" name="Text 18"/>
          <p:cNvSpPr/>
          <p:nvPr/>
        </p:nvSpPr>
        <p:spPr>
          <a:xfrm>
            <a:off x="2550170" y="7269480"/>
            <a:ext cx="129650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分钟干货</a:t>
            </a:r>
            <a:endParaRPr lang="en-US" sz="1518" dirty="0"/>
          </a:p>
        </p:txBody>
      </p:sp>
      <p:sp>
        <p:nvSpPr>
          <p:cNvPr id="21" name="Text 19"/>
          <p:cNvSpPr/>
          <p:nvPr/>
        </p:nvSpPr>
        <p:spPr>
          <a:xfrm>
            <a:off x="3981938" y="7269480"/>
            <a:ext cx="112711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拿来就能用</a:t>
            </a:r>
            <a:endParaRPr lang="en-US" sz="1518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">
            <a:off x="1219170" y="4114800"/>
            <a:ext cx="1600200" cy="16002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937266" y="1463040"/>
            <a:ext cx="5778734" cy="6065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37266" y="1463040"/>
            <a:ext cx="11593" cy="60654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71606" y="2610703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四句话总结</a:t>
            </a:r>
            <a:endParaRPr lang="en-US" sz="1584" dirty="0"/>
          </a:p>
        </p:txBody>
      </p:sp>
      <p:sp>
        <p:nvSpPr>
          <p:cNvPr id="26" name="Text 23"/>
          <p:cNvSpPr/>
          <p:nvPr/>
        </p:nvSpPr>
        <p:spPr>
          <a:xfrm>
            <a:off x="8371606" y="3174522"/>
            <a:ext cx="8486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核心原理</a:t>
            </a:r>
            <a:endParaRPr lang="en-US" sz="1386" dirty="0"/>
          </a:p>
        </p:txBody>
      </p:sp>
      <p:sp>
        <p:nvSpPr>
          <p:cNvPr id="27" name="Text 24"/>
          <p:cNvSpPr/>
          <p:nvPr/>
        </p:nvSpPr>
        <p:spPr>
          <a:xfrm>
            <a:off x="9423166" y="3205063"/>
            <a:ext cx="24688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搜到的资料质量决定回答质量</a:t>
            </a:r>
            <a:endParaRPr lang="en-US" sz="1440" dirty="0"/>
          </a:p>
        </p:txBody>
      </p:sp>
      <p:sp>
        <p:nvSpPr>
          <p:cNvPr id="28" name="Shape 25"/>
          <p:cNvSpPr/>
          <p:nvPr/>
        </p:nvSpPr>
        <p:spPr>
          <a:xfrm>
            <a:off x="8371606" y="3561679"/>
            <a:ext cx="5344394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71606" y="3561679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71606" y="3691158"/>
            <a:ext cx="103864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三招组合拳</a:t>
            </a:r>
            <a:endParaRPr lang="en-US" sz="1386" dirty="0"/>
          </a:p>
        </p:txBody>
      </p:sp>
      <p:sp>
        <p:nvSpPr>
          <p:cNvPr id="31" name="Text 28"/>
          <p:cNvSpPr/>
          <p:nvPr/>
        </p:nvSpPr>
        <p:spPr>
          <a:xfrm>
            <a:off x="9423166" y="3721699"/>
            <a:ext cx="248469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元数据过滤 + 混合检索 + 重排</a:t>
            </a:r>
            <a:endParaRPr lang="en-US" sz="1440" dirty="0"/>
          </a:p>
        </p:txBody>
      </p:sp>
      <p:sp>
        <p:nvSpPr>
          <p:cNvPr id="32" name="Shape 29"/>
          <p:cNvSpPr/>
          <p:nvPr/>
        </p:nvSpPr>
        <p:spPr>
          <a:xfrm>
            <a:off x="8371606" y="4078224"/>
            <a:ext cx="5344394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71606" y="4078224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71606" y="4207794"/>
            <a:ext cx="8486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上线铁律</a:t>
            </a:r>
            <a:endParaRPr lang="en-US" sz="1386" dirty="0"/>
          </a:p>
        </p:txBody>
      </p:sp>
      <p:sp>
        <p:nvSpPr>
          <p:cNvPr id="35" name="Text 32"/>
          <p:cNvSpPr/>
          <p:nvPr/>
        </p:nvSpPr>
        <p:spPr>
          <a:xfrm>
            <a:off x="9423166" y="4238244"/>
            <a:ext cx="250911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没跑过 500 道测试题不许发布</a:t>
            </a:r>
            <a:endParaRPr lang="en-US" sz="1440" dirty="0"/>
          </a:p>
        </p:txBody>
      </p:sp>
      <p:sp>
        <p:nvSpPr>
          <p:cNvPr id="36" name="Shape 33"/>
          <p:cNvSpPr/>
          <p:nvPr/>
        </p:nvSpPr>
        <p:spPr>
          <a:xfrm>
            <a:off x="8371606" y="4823460"/>
            <a:ext cx="5344394" cy="155749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71606" y="4823460"/>
            <a:ext cx="5344394" cy="23186"/>
          </a:xfrm>
          <a:prstGeom prst="rect">
            <a:avLst/>
          </a:prstGeom>
          <a:solidFill>
            <a:srgbClr val="2742EC"/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71606" y="5021610"/>
            <a:ext cx="117134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带走三句话</a:t>
            </a:r>
            <a:endParaRPr lang="en-US" sz="1584" dirty="0"/>
          </a:p>
        </p:txBody>
      </p:sp>
      <p:sp>
        <p:nvSpPr>
          <p:cNvPr id="39" name="Text 36"/>
          <p:cNvSpPr/>
          <p:nvPr/>
        </p:nvSpPr>
        <p:spPr>
          <a:xfrm>
            <a:off x="8371606" y="5394960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84" dirty="0"/>
          </a:p>
        </p:txBody>
      </p:sp>
      <p:sp>
        <p:nvSpPr>
          <p:cNvPr id="40" name="Text 37"/>
          <p:cNvSpPr/>
          <p:nvPr/>
        </p:nvSpPr>
        <p:spPr>
          <a:xfrm>
            <a:off x="8708928" y="5433090"/>
            <a:ext cx="320040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先把数据洗干净，比换大模型有用十倍</a:t>
            </a:r>
            <a:endParaRPr lang="en-US" sz="1440" dirty="0"/>
          </a:p>
        </p:txBody>
      </p:sp>
      <p:sp>
        <p:nvSpPr>
          <p:cNvPr id="41" name="Text 38"/>
          <p:cNvSpPr/>
          <p:nvPr/>
        </p:nvSpPr>
        <p:spPr>
          <a:xfrm>
            <a:off x="8371606" y="5751576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84" dirty="0"/>
          </a:p>
        </p:txBody>
      </p:sp>
      <p:sp>
        <p:nvSpPr>
          <p:cNvPr id="42" name="Text 39"/>
          <p:cNvSpPr/>
          <p:nvPr/>
        </p:nvSpPr>
        <p:spPr>
          <a:xfrm>
            <a:off x="8708928" y="5789615"/>
            <a:ext cx="33832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专有编码必须走混合检索，纯向量搜不到</a:t>
            </a:r>
            <a:endParaRPr lang="en-US" sz="1440" dirty="0"/>
          </a:p>
        </p:txBody>
      </p:sp>
      <p:sp>
        <p:nvSpPr>
          <p:cNvPr id="43" name="Text 40"/>
          <p:cNvSpPr/>
          <p:nvPr/>
        </p:nvSpPr>
        <p:spPr>
          <a:xfrm>
            <a:off x="8371606" y="6108101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84" dirty="0"/>
          </a:p>
        </p:txBody>
      </p:sp>
      <p:sp>
        <p:nvSpPr>
          <p:cNvPr id="44" name="Text 41"/>
          <p:cNvSpPr/>
          <p:nvPr/>
        </p:nvSpPr>
        <p:spPr>
          <a:xfrm>
            <a:off x="8708928" y="6146231"/>
            <a:ext cx="265176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没有自动化测试门禁，绝不上线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 Export</dc:title>
  <dc:subject>Editable PPTX export</dc:subject>
  <dc:creator>Dashi PPT</dc:creator>
  <cp:lastModifiedBy>Dashi PPT</cp:lastModifiedBy>
  <cp:revision>1</cp:revision>
  <dcterms:created xsi:type="dcterms:W3CDTF">2026-08-25T14:02:31Z</dcterms:created>
  <dcterms:modified xsi:type="dcterms:W3CDTF">2026-08-25T14:02:31Z</dcterms:modified>
</cp:coreProperties>
</file>